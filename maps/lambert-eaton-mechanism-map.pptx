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Build it: the neuromuscular junction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Wrap-up session · work in pairs · you will draw the mechanism, not read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486400" cy="4160520"/>
          </a:xfrm>
          <a:prstGeom prst="roundRect">
            <a:avLst>
              <a:gd name="adj" fmla="val 3000"/>
            </a:avLst>
          </a:prstGeom>
          <a:solidFill>
            <a:srgbClr val="F4F6F8"/>
          </a:solidFill>
          <a:ln w="12700">
            <a:solidFill>
              <a:srgbClr val="D8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847088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HOW THIS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493776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1.   Open the PARTS slides (3 and 4).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2.   Click an object, Ctrl+C. Go to your CANVAS slide, Ctrl+V.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3.   Drag it where it belongs.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4.   Ctrl+D duplicates whatever is selected — use it for the ions.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5.   Don't resize anything. The parts are already to scale with each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other, the same scale as the animation.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6.   Add arrows and label pills from slide 4. Type your own if one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      is missing.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232A36"/>
                </a:solidFill>
                <a:latin typeface="Calibri"/>
              </a:rPr>
              <a:t>7.   Build first, then check. The answer is not on any slide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600200"/>
            <a:ext cx="4617720" cy="4160520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22592" y="184708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E98A3C"/>
                </a:solidFill>
                <a:latin typeface="Calibri"/>
              </a:rPr>
              <a:t>WHY WE'RE DOING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22592" y="2240280"/>
            <a:ext cx="411480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You can already recognise this pathway. Recognition is not what the exam asks of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Rebuilding a mechanism out of loose parts forces you to commit to an order, a direction and a source — the three things people get wrong under pressure, and the three things a finished slide has already decided for you.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232A36"/>
                </a:solidFill>
                <a:latin typeface="Calibri"/>
              </a:rPr>
              <a:t>It is also a study tool you keep: any pathway, any drawing program. Build it once from parts and you stop needing to re-read the slide.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4 · Shehadeh Lab Foundational Science Library · videos.shehadehlab.com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The finished thing should teach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Before you start: what a complete Canvas 1 build has to make obvious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783080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92224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channel lets Ca²⁺ in, and which membrane it sits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122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there are two kinds of channel on this terminal and they do opposite jobs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569464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578608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What the Ca²⁺ actually does once it is inside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8986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it does not cross the cleft; show what it acts on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355848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364991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Which side of the cleft the receptor is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and what kind of receptor it is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142232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151376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How the signal is switched off again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471416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one enzyme, and where it lives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928616"/>
            <a:ext cx="384048" cy="384048"/>
          </a:xfrm>
          <a:prstGeom prst="ellipse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9377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32A36"/>
                </a:solidFill>
                <a:latin typeface="Calibri"/>
              </a:rPr>
              <a:t>Where a single antibody could break this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578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50" b="0">
                <a:solidFill>
                  <a:srgbClr val="6B7482"/>
                </a:solidFill>
                <a:latin typeface="Calibri"/>
              </a:rPr>
              <a:t>leave a mark at every point you think is attackable — you will use it on Canvas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40080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B03A5B"/>
                </a:solidFill>
                <a:latin typeface="Calibri"/>
              </a:rPr>
              <a:t>If a classmate can read the order of events off your drawing without you talking, it is finished.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structures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Copy from here. Every part is at the same scale as the others.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Objects taken from Video 4 · Shehadeh Lab Foundational Science Library · videos.shehadehlab.com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335024"/>
            <a:ext cx="10908792" cy="475488"/>
          </a:xfrm>
          <a:prstGeom prst="roundRect">
            <a:avLst>
              <a:gd name="adj" fmla="val 3000"/>
            </a:avLst>
          </a:prstGeom>
          <a:solidFill>
            <a:srgbClr val="FDF6EE"/>
          </a:solidFill>
          <a:ln w="12700">
            <a:solidFill>
              <a:srgbClr val="F0D9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5" y="146304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0">
                <a:solidFill>
                  <a:srgbClr val="232A36"/>
                </a:solidFill>
                <a:latin typeface="Calibri"/>
              </a:rPr>
              <a:t>Left out on purpose: the action potential, acetylcholinesterase, and the vesicle-fusion machinery. Draw those yourself — deciding where they go is half the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481" y="2470343"/>
            <a:ext cx="251569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6B7482"/>
                </a:solidFill>
                <a:latin typeface="Calibri"/>
              </a:rPr>
              <a:t>presynaptic terminal</a:t>
            </a:r>
          </a:p>
        </p:txBody>
      </p:sp>
      <p:pic>
        <p:nvPicPr>
          <p:cNvPr id="9" name="Picture 8" descr="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81" y="2781239"/>
            <a:ext cx="2058497" cy="1666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61299" y="2470343"/>
            <a:ext cx="113312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7B3FA0"/>
                </a:solidFill>
                <a:latin typeface="Calibri"/>
              </a:rPr>
              <a:t>P/Q-type Ca²⁺ channel</a:t>
            </a:r>
          </a:p>
        </p:txBody>
      </p:sp>
      <p:pic>
        <p:nvPicPr>
          <p:cNvPr id="11" name="Picture 10" descr="cav_p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899" y="3219053"/>
            <a:ext cx="675924" cy="7911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11543" y="2470343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0774A"/>
                </a:solidFill>
                <a:latin typeface="Calibri"/>
              </a:rPr>
              <a:t>K⁺ channel</a:t>
            </a:r>
          </a:p>
        </p:txBody>
      </p:sp>
      <p:pic>
        <p:nvPicPr>
          <p:cNvPr id="13" name="Picture 12" descr="k_chann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143" y="3295863"/>
            <a:ext cx="572231" cy="63751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44231" y="2470343"/>
            <a:ext cx="428231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7BFB4"/>
                </a:solidFill>
                <a:latin typeface="Calibri"/>
              </a:rPr>
              <a:t>muscle endplate</a:t>
            </a:r>
          </a:p>
        </p:txBody>
      </p:sp>
      <p:pic>
        <p:nvPicPr>
          <p:cNvPr id="15" name="Picture 14" descr="muscle_membra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2831" y="3096158"/>
            <a:ext cx="3825118" cy="10369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243669" y="2470343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7BFB4"/>
                </a:solidFill>
                <a:latin typeface="Calibri"/>
              </a:rPr>
              <a:t>nicotinic AChR</a:t>
            </a:r>
          </a:p>
        </p:txBody>
      </p:sp>
      <p:pic>
        <p:nvPicPr>
          <p:cNvPr id="17" name="Picture 16" descr="ach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2269" y="3105759"/>
            <a:ext cx="537667" cy="10177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176357" y="2470343"/>
            <a:ext cx="148644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B5503C"/>
                </a:solidFill>
                <a:latin typeface="Calibri"/>
              </a:rPr>
              <a:t>ACh</a:t>
            </a:r>
          </a:p>
        </p:txBody>
      </p:sp>
      <p:pic>
        <p:nvPicPr>
          <p:cNvPr id="19" name="Picture 18" descr="a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4957" y="3011667"/>
            <a:ext cx="1029248" cy="12059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44802" y="4832055"/>
            <a:ext cx="111556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4A8C2A"/>
                </a:solidFill>
                <a:latin typeface="Calibri"/>
              </a:rPr>
              <a:t>Ca²⁺</a:t>
            </a:r>
          </a:p>
        </p:txBody>
      </p:sp>
      <p:pic>
        <p:nvPicPr>
          <p:cNvPr id="21" name="Picture 20" descr="c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3402" y="5292730"/>
            <a:ext cx="460857" cy="3533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77490" y="4832055"/>
            <a:ext cx="179245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D9A227"/>
                </a:solidFill>
                <a:latin typeface="Calibri"/>
              </a:rPr>
              <a:t>autoantibody</a:t>
            </a:r>
          </a:p>
        </p:txBody>
      </p:sp>
      <p:pic>
        <p:nvPicPr>
          <p:cNvPr id="23" name="Picture 22" descr="antibod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6090" y="5277368"/>
            <a:ext cx="407090" cy="384047"/>
          </a:xfrm>
          <a:prstGeom prst="rect">
            <a:avLst/>
          </a:prstGeom>
        </p:spPr>
      </p:pic>
      <p:pic>
        <p:nvPicPr>
          <p:cNvPr id="24" name="Picture 23" descr="antibod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173" y="5277368"/>
            <a:ext cx="407090" cy="384047"/>
          </a:xfrm>
          <a:prstGeom prst="rect">
            <a:avLst/>
          </a:prstGeom>
        </p:spPr>
      </p:pic>
      <p:pic>
        <p:nvPicPr>
          <p:cNvPr id="25" name="Picture 24" descr="antibod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4257" y="5277368"/>
            <a:ext cx="407090" cy="38404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87068" y="4832055"/>
            <a:ext cx="155941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2E77C9"/>
                </a:solidFill>
                <a:latin typeface="Calibri"/>
              </a:rPr>
              <a:t>Firdapse (3,4-DAP)</a:t>
            </a:r>
          </a:p>
        </p:txBody>
      </p:sp>
      <p:pic>
        <p:nvPicPr>
          <p:cNvPr id="27" name="Picture 26" descr="firdap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5668" y="5142951"/>
            <a:ext cx="1102217" cy="6528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232A36"/>
                </a:solidFill>
                <a:latin typeface="Calibri"/>
              </a:rPr>
              <a:t>PARTS  ·  arrows and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932688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060704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>
                <a:solidFill>
                  <a:srgbClr val="6B7482"/>
                </a:solidFill>
                <a:latin typeface="Calibri"/>
              </a:rPr>
              <a:t>Rotate an arrow by its top handle. Edit any pill by double-clicking the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4465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C6CDD5"/>
                </a:solidFill>
                <a:latin typeface="Calibri"/>
              </a:rPr>
              <a:t>Colour key matches the video: Ca²⁺ green · ACh salmon · P/Q channel purple · K⁺ channel orange · AChR teal · antibody yellow · Firdapse blue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ARROWS  —  a direction is a claim; make it deliberately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41248" y="1938528"/>
            <a:ext cx="13716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841248" y="2395728"/>
            <a:ext cx="2286000" cy="310896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841248" y="2852928"/>
            <a:ext cx="822960" cy="256032"/>
          </a:xfrm>
          <a:prstGeom prst="righ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ent Arrow 9"/>
          <p:cNvSpPr/>
          <p:nvPr/>
        </p:nvSpPr>
        <p:spPr>
          <a:xfrm>
            <a:off x="352044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ent Arrow 10"/>
          <p:cNvSpPr/>
          <p:nvPr/>
        </p:nvSpPr>
        <p:spPr>
          <a:xfrm rot="16200000">
            <a:off x="4709160" y="1874519"/>
            <a:ext cx="1005840" cy="1005840"/>
          </a:xfrm>
          <a:prstGeom prst="bentArrow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Lightning Bolt 11"/>
          <p:cNvSpPr/>
          <p:nvPr/>
        </p:nvSpPr>
        <p:spPr>
          <a:xfrm>
            <a:off x="868680" y="3310128"/>
            <a:ext cx="384048" cy="868680"/>
          </a:xfrm>
          <a:prstGeom prst="lightningBol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71600" y="356616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signal arrives</a:t>
            </a:r>
          </a:p>
        </p:txBody>
      </p:sp>
      <p:sp>
        <p:nvSpPr>
          <p:cNvPr id="14" name="&quot;No&quot; Symbol 13"/>
          <p:cNvSpPr/>
          <p:nvPr/>
        </p:nvSpPr>
        <p:spPr>
          <a:xfrm>
            <a:off x="2331720" y="3310128"/>
            <a:ext cx="777240" cy="777240"/>
          </a:xfrm>
          <a:prstGeom prst="noSmoking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356616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blocked here</a:t>
            </a:r>
          </a:p>
        </p:txBody>
      </p:sp>
      <p:sp>
        <p:nvSpPr>
          <p:cNvPr id="16" name="Up Arrow 15"/>
          <p:cNvSpPr/>
          <p:nvPr/>
        </p:nvSpPr>
        <p:spPr>
          <a:xfrm>
            <a:off x="4160520" y="3310128"/>
            <a:ext cx="310896" cy="822960"/>
          </a:xfrm>
          <a:prstGeom prst="upArrow">
            <a:avLst/>
          </a:prstGeom>
          <a:solidFill>
            <a:srgbClr val="B0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Down Arrow 16"/>
          <p:cNvSpPr/>
          <p:nvPr/>
        </p:nvSpPr>
        <p:spPr>
          <a:xfrm>
            <a:off x="4572000" y="3310128"/>
            <a:ext cx="310896" cy="822960"/>
          </a:xfrm>
          <a:prstGeom prst="downArrow">
            <a:avLst/>
          </a:prstGeom>
          <a:solidFill>
            <a:srgbClr val="2F6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80" y="420624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6B7482"/>
                </a:solidFill>
                <a:latin typeface="Calibri"/>
              </a:rPr>
              <a:t>more / 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BLANK PILL  —  copy it and type whatever you need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5047488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6B7482"/>
                </a:solidFill>
                <a:latin typeface="Calibri"/>
              </a:rPr>
              <a:t>STRUCTURES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1920240"/>
            <a:ext cx="2103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Presynaptic terminal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322576"/>
            <a:ext cx="156819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Active zone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724912"/>
            <a:ext cx="2093976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5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Synaptic vesicle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127248"/>
            <a:ext cx="2103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7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Ca_v2.1 (P/Q-type)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3529584"/>
            <a:ext cx="146304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F07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K⁺ channel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06440" y="3931920"/>
            <a:ext cx="188366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3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Synaptic cleft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4334256"/>
            <a:ext cx="1883664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17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Nicotinic AChR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4736592"/>
            <a:ext cx="19888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17BF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Muscle endplate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5138928"/>
            <a:ext cx="1778508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5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Mitochondrion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15727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4A8C2A"/>
                </a:solidFill>
                <a:latin typeface="Calibri"/>
              </a:rPr>
              <a:t>MOLECULES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19288" y="192024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4A8C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Ca²⁺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9288" y="2322576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5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19288" y="2724912"/>
            <a:ext cx="2103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8A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Acetylcholinesterase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19288" y="3127248"/>
            <a:ext cx="1673352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D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Autoantibody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19288" y="3529584"/>
            <a:ext cx="2103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E7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Firdapse (3,4-DAP)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32136" y="1572768"/>
            <a:ext cx="1837943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E98A3C"/>
                </a:solidFill>
                <a:latin typeface="Calibri"/>
              </a:rPr>
              <a:t>WHAT IS HAPPENING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32136" y="1920240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Vesicle fusion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232136" y="2322576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E98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Endplate potential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232136" y="2724912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↓ ACh release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32136" y="3127248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Improves with use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232136" y="3529584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Worsens with use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32136" y="3931920"/>
            <a:ext cx="960120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LEMS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232136" y="4334256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Myasthenia gravis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232136" y="4736592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B03A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Small-cell lung cancer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32136" y="5138928"/>
            <a:ext cx="1609343" cy="31089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9050">
            <a:solidFill>
              <a:srgbClr val="2E77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1150" b="1">
                <a:solidFill>
                  <a:srgbClr val="232A36"/>
                </a:solidFill>
                <a:latin typeface="Calibri"/>
              </a:rPr>
              <a:t>Longer action potential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1  ·  One impulse, one twitch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An action potential reaches the terminal. Build everything between that and a muscle fibre that fires.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which channel lets Ca²⁺ in  ·  what Ca²⁺ acts on inside the terminal  ·  which side the receptor is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Ca²⁺ never crosses the cleft. If your drawing has it landing on the muscle, something has gone wrong two steps earlier.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NERVE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SYNAPTIC CLEFT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MUSCLE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87782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>
                <a:solidFill>
                  <a:srgbClr val="232A36"/>
                </a:solidFill>
                <a:latin typeface="Calibri"/>
              </a:rPr>
              <a:t>Canvas 2  ·  Put the antibody where it belongs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Build the junction twice, side by side. Give one LEMS and the other myasthenia gravis.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the two different targets  ·  why one improves with repeated use and the other worsens  ·  which one hunts for a tumour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The clinical difference falls straight out of the anatomy. If your two drawings differ only in a label, you have not found it yet.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NERVE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SYNAPTIC CLEFT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MUSCLE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274320"/>
            <a:ext cx="91440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232A36"/>
                </a:solidFill>
                <a:latin typeface="Calibri"/>
              </a:rPr>
              <a:t>Canvas 3  ·  Stretch — the drug that treats the wrong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868680"/>
            <a:ext cx="1371600" cy="41148"/>
          </a:xfrm>
          <a:prstGeom prst="rect">
            <a:avLst/>
          </a:prstGeom>
          <a:solidFill>
            <a:srgbClr val="E98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104120" y="310896"/>
            <a:ext cx="1417320" cy="384048"/>
          </a:xfrm>
          <a:prstGeom prst="roundRect">
            <a:avLst>
              <a:gd name="adj" fmla="val 35000"/>
            </a:avLst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if you finish early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87552"/>
            <a:ext cx="9144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>
                <a:solidFill>
                  <a:srgbClr val="232A36"/>
                </a:solidFill>
                <a:latin typeface="Calibri"/>
              </a:rPr>
              <a:t>Add Firdapse to your LEMS drawing. It does not touch the channel the antibodies attacked.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89888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50" b="1">
                <a:solidFill>
                  <a:srgbClr val="B03A5B"/>
                </a:solidFill>
                <a:latin typeface="Calibri"/>
              </a:rPr>
              <a:t>MUST SHOW:   which channel it blocks  ·  what that does to the action potential  ·  how that ends in more 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419088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C6CDD5"/>
                </a:solidFill>
                <a:latin typeface="Calibri"/>
              </a:rPr>
              <a:t>Three steps between blocking a potassium channel and releasing more transmitter. Draw all three, in order, or the drug looks like magic.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NERVE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SYNAPTIC CLEFT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58064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C6CDD5"/>
                </a:solidFill>
                <a:latin typeface="Calibri"/>
              </a:rPr>
              <a:t>MUSCLE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885</Words>
  <Application>Microsoft Office PowerPoint</Application>
  <PresentationFormat>Widescreen</PresentationFormat>
  <Paragraphs>107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Lina Shehadeh</cp:lastModifiedBy>
  <cp:revision>3</cp:revision>
  <dcterms:created xsi:type="dcterms:W3CDTF">2013-01-27T09:14:16Z</dcterms:created>
  <dcterms:modified xsi:type="dcterms:W3CDTF">2026-09-04T14:25:29Z</dcterms:modified>
  <cp:category/>
</cp:coreProperties>
</file>