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Build it: cardiac excitation–contraction coupling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Wrap-up session · work in pairs · you will draw the mechanism, not read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486400" cy="416052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470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HOW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1.   Open the PARTS slides (3 and 4).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2.   Click an object, Ctrl+C. Go to your CANVAS slide, Ctrl+V.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3.   Drag it where it belongs.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4.   Ctrl+D duplicates whatever is selected — use it for the Ca²⁺ ions.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5.   Don't resize anything. The parts are already to scale with each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other, the same scale as the animation.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6.   Add arrows and label pills from slide 4. Type your own if one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is missing.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7.   12 minutes on Canvas 1. Then three builds go on the screen and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we argue about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00200"/>
            <a:ext cx="4617720" cy="416052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2592" y="184708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WHY WE'RE DOING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2240280"/>
            <a:ext cx="4114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You can already recognise this pathway. Recognition is not what the exam asks of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Rebuilding a mechanism out of loose parts forces you to commit to an order, a direction and a source — the three things people get wrong under pressure, and the three things a finished slide has already decided for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It is also a study tool you keep: any pathway, any drawing program. Build it once from parts and you stop needing to re-read the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5 · Shehadeh Lab Foundational Science Library · videos.shehadehlab.com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The finished thing should teach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Before you start: what a complete Canvas 1 build has to make obvious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92224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Where the first Ca²⁺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1226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and how much of it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5786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Why a small trigger makes a large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986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the amplifier step, named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55848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364991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channel sits in which membrane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sarcolemma vs SR — they are not interchangeable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42232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5137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Both routes that clear Ca²⁺ again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7141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and what each one costs the cell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28616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937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The direction of every arrow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578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in, out, or into the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If a classmate can read the order of events off your drawing without you talking, it is finished.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Copy from here. Every part is at the same scale as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5 · Shehadeh Lab Foundational Science Library · videos.shehadehlab.com</a:t>
            </a:r>
          </a:p>
        </p:txBody>
      </p:sp>
      <p:pic>
        <p:nvPicPr>
          <p:cNvPr id="6" name="Picture 5" descr="membr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27632"/>
            <a:ext cx="508635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31673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Sarcolemma</a:t>
            </a:r>
          </a:p>
        </p:txBody>
      </p:sp>
      <p:pic>
        <p:nvPicPr>
          <p:cNvPr id="8" name="Picture 7" descr="sr_empty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783080"/>
            <a:ext cx="1514475" cy="26546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146304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SR — empty</a:t>
            </a:r>
          </a:p>
        </p:txBody>
      </p:sp>
      <p:pic>
        <p:nvPicPr>
          <p:cNvPr id="10" name="Picture 9" descr="sr_full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783080"/>
            <a:ext cx="1514475" cy="26546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46120" y="146304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89A87"/>
                </a:solidFill>
                <a:latin typeface="Calibri"/>
              </a:rPr>
              <a:t>SR — full</a:t>
            </a:r>
          </a:p>
        </p:txBody>
      </p:sp>
      <p:pic>
        <p:nvPicPr>
          <p:cNvPr id="12" name="Picture 11" descr="nc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783080"/>
            <a:ext cx="997267" cy="20545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14630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2B600"/>
                </a:solidFill>
                <a:latin typeface="Calibri"/>
              </a:rPr>
              <a:t>NCX</a:t>
            </a:r>
          </a:p>
        </p:txBody>
      </p:sp>
      <p:pic>
        <p:nvPicPr>
          <p:cNvPr id="14" name="Picture 13" descr="cav12_clos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11680"/>
            <a:ext cx="997267" cy="628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1463040"/>
            <a:ext cx="9966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Ca_v1.2 shut</a:t>
            </a:r>
          </a:p>
        </p:txBody>
      </p:sp>
      <p:pic>
        <p:nvPicPr>
          <p:cNvPr id="16" name="Picture 15" descr="cav12_op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1993392"/>
            <a:ext cx="1011555" cy="6629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60920" y="1463040"/>
            <a:ext cx="10149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E01A75"/>
                </a:solidFill>
                <a:latin typeface="Calibri"/>
              </a:rPr>
              <a:t>Ca_v1.2 open</a:t>
            </a:r>
          </a:p>
        </p:txBody>
      </p:sp>
      <p:pic>
        <p:nvPicPr>
          <p:cNvPr id="18" name="Picture 17" descr="ryr2_clo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9640" y="2084831"/>
            <a:ext cx="511492" cy="4943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1463040"/>
            <a:ext cx="786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B3FA0"/>
                </a:solidFill>
                <a:latin typeface="Calibri"/>
              </a:rPr>
              <a:t>RyR2 shut</a:t>
            </a:r>
          </a:p>
        </p:txBody>
      </p:sp>
      <p:pic>
        <p:nvPicPr>
          <p:cNvPr id="20" name="Picture 19" descr="ryr2_op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0" y="2020824"/>
            <a:ext cx="594360" cy="6172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89720" y="146304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B3FA0"/>
                </a:solidFill>
                <a:latin typeface="Calibri"/>
              </a:rPr>
              <a:t>RyR2 open</a:t>
            </a:r>
          </a:p>
        </p:txBody>
      </p:sp>
      <p:pic>
        <p:nvPicPr>
          <p:cNvPr id="22" name="Picture 21" descr="serc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5560" y="2057400"/>
            <a:ext cx="482917" cy="54006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58400" y="146304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A7A6E"/>
                </a:solidFill>
                <a:latin typeface="Calibri"/>
              </a:rPr>
              <a:t>SERCA</a:t>
            </a:r>
          </a:p>
        </p:txBody>
      </p:sp>
      <p:pic>
        <p:nvPicPr>
          <p:cNvPr id="24" name="Picture 23" descr="pl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7080" y="2029968"/>
            <a:ext cx="254317" cy="34575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771632" y="146304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7BFB4"/>
                </a:solidFill>
                <a:latin typeface="Calibri"/>
              </a:rPr>
              <a:t>PLB</a:t>
            </a:r>
          </a:p>
        </p:txBody>
      </p:sp>
      <p:pic>
        <p:nvPicPr>
          <p:cNvPr id="26" name="Picture 25" descr="plb_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75720" y="2011680"/>
            <a:ext cx="374332" cy="3743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356848" y="1463040"/>
            <a:ext cx="621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7BFB4"/>
                </a:solidFill>
                <a:latin typeface="Calibri"/>
              </a:rPr>
              <a:t>PLB–P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6634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IONS  —  click one, then Ctrl+D as many times as you need</a:t>
            </a:r>
          </a:p>
        </p:txBody>
      </p:sp>
      <p:pic>
        <p:nvPicPr>
          <p:cNvPr id="29" name="Picture 28" descr="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0200" y="5010912"/>
            <a:ext cx="320040" cy="322898"/>
          </a:xfrm>
          <a:prstGeom prst="rect">
            <a:avLst/>
          </a:prstGeom>
        </p:spPr>
      </p:pic>
      <p:pic>
        <p:nvPicPr>
          <p:cNvPr id="30" name="Picture 29" descr="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65960" y="5010912"/>
            <a:ext cx="320040" cy="322898"/>
          </a:xfrm>
          <a:prstGeom prst="rect">
            <a:avLst/>
          </a:prstGeom>
        </p:spPr>
      </p:pic>
      <p:pic>
        <p:nvPicPr>
          <p:cNvPr id="31" name="Picture 30" descr="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1720" y="5010912"/>
            <a:ext cx="320040" cy="322898"/>
          </a:xfrm>
          <a:prstGeom prst="rect">
            <a:avLst/>
          </a:prstGeom>
        </p:spPr>
      </p:pic>
      <p:pic>
        <p:nvPicPr>
          <p:cNvPr id="32" name="Picture 31" descr="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7480" y="5010912"/>
            <a:ext cx="320040" cy="322898"/>
          </a:xfrm>
          <a:prstGeom prst="rect">
            <a:avLst/>
          </a:prstGeom>
        </p:spPr>
      </p:pic>
      <p:pic>
        <p:nvPicPr>
          <p:cNvPr id="33" name="Picture 32" descr="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63240" y="5010912"/>
            <a:ext cx="320040" cy="322898"/>
          </a:xfrm>
          <a:prstGeom prst="rect">
            <a:avLst/>
          </a:prstGeom>
        </p:spPr>
      </p:pic>
      <p:pic>
        <p:nvPicPr>
          <p:cNvPr id="34" name="Picture 33" descr="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00" y="5010912"/>
            <a:ext cx="320040" cy="322898"/>
          </a:xfrm>
          <a:prstGeom prst="rect">
            <a:avLst/>
          </a:prstGeom>
        </p:spPr>
      </p:pic>
      <p:pic>
        <p:nvPicPr>
          <p:cNvPr id="35" name="Picture 34" descr="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4760" y="5010912"/>
            <a:ext cx="320040" cy="322898"/>
          </a:xfrm>
          <a:prstGeom prst="rect">
            <a:avLst/>
          </a:prstGeom>
        </p:spPr>
      </p:pic>
      <p:pic>
        <p:nvPicPr>
          <p:cNvPr id="36" name="Picture 35" descr="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0520" y="5010912"/>
            <a:ext cx="320040" cy="3228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600200" y="5394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A8C2A"/>
                </a:solidFill>
                <a:latin typeface="Calibri"/>
              </a:rPr>
              <a:t>Ca²⁺</a:t>
            </a:r>
          </a:p>
        </p:txBody>
      </p:sp>
      <p:pic>
        <p:nvPicPr>
          <p:cNvPr id="38" name="Picture 37" descr="n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5020056"/>
            <a:ext cx="300037" cy="314324"/>
          </a:xfrm>
          <a:prstGeom prst="rect">
            <a:avLst/>
          </a:prstGeom>
        </p:spPr>
      </p:pic>
      <p:pic>
        <p:nvPicPr>
          <p:cNvPr id="39" name="Picture 38" descr="n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02352" y="5020056"/>
            <a:ext cx="300037" cy="314324"/>
          </a:xfrm>
          <a:prstGeom prst="rect">
            <a:avLst/>
          </a:prstGeom>
        </p:spPr>
      </p:pic>
      <p:pic>
        <p:nvPicPr>
          <p:cNvPr id="40" name="Picture 39" descr="n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9824" y="5020056"/>
            <a:ext cx="300037" cy="314324"/>
          </a:xfrm>
          <a:prstGeom prst="rect">
            <a:avLst/>
          </a:prstGeom>
        </p:spPr>
      </p:pic>
      <p:pic>
        <p:nvPicPr>
          <p:cNvPr id="41" name="Picture 40" descr="n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97296" y="5020056"/>
            <a:ext cx="300037" cy="314324"/>
          </a:xfrm>
          <a:prstGeom prst="rect">
            <a:avLst/>
          </a:prstGeom>
        </p:spPr>
      </p:pic>
      <p:pic>
        <p:nvPicPr>
          <p:cNvPr id="42" name="Picture 41" descr="n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4768" y="5020056"/>
            <a:ext cx="300037" cy="314324"/>
          </a:xfrm>
          <a:prstGeom prst="rect">
            <a:avLst/>
          </a:prstGeom>
        </p:spPr>
      </p:pic>
      <p:pic>
        <p:nvPicPr>
          <p:cNvPr id="43" name="Picture 42" descr="n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5020056"/>
            <a:ext cx="300037" cy="3143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754880" y="5394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7B6BC4"/>
                </a:solidFill>
                <a:latin typeface="Calibri"/>
              </a:rPr>
              <a:t>Na⁺</a:t>
            </a:r>
          </a:p>
        </p:txBody>
      </p:sp>
      <p:pic>
        <p:nvPicPr>
          <p:cNvPr id="45" name="Picture 44" descr="phosph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6600" y="5038344"/>
            <a:ext cx="271462" cy="271462"/>
          </a:xfrm>
          <a:prstGeom prst="rect">
            <a:avLst/>
          </a:prstGeom>
        </p:spPr>
      </p:pic>
      <p:pic>
        <p:nvPicPr>
          <p:cNvPr id="46" name="Picture 45" descr="phosph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97496" y="5038344"/>
            <a:ext cx="271462" cy="271462"/>
          </a:xfrm>
          <a:prstGeom prst="rect">
            <a:avLst/>
          </a:prstGeom>
        </p:spPr>
      </p:pic>
      <p:pic>
        <p:nvPicPr>
          <p:cNvPr id="47" name="Picture 46" descr="phosph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08392" y="5038344"/>
            <a:ext cx="271462" cy="27146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086600" y="53949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C98A18"/>
                </a:solidFill>
                <a:latin typeface="Calibri"/>
              </a:rPr>
              <a:t>phosphate (PKA)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590288"/>
            <a:ext cx="2697480" cy="1481328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81160" y="4791456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32A36"/>
                </a:solidFill>
                <a:latin typeface="Calibri"/>
              </a:rPr>
              <a:t>Left out on purpose: the T-tubule, the myofilaments, the β₁ receptor and cAMP. Draw those yourself — deciding where they go is half the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arrows and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Rotate an arrow by its top handle. Edit any pill by double-clicking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Colour key matches the videos: Ca²⁺ green · Na⁺ lavender · Ca_v1.2 magenta · RyR2 violet · NCX yellow · SERCA grey · PLB teal · phosphate amber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ARROWS  —  a direction is a claim; make it deliberately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41248" y="1938528"/>
            <a:ext cx="13716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841248" y="2395728"/>
            <a:ext cx="22860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1248" y="2852928"/>
            <a:ext cx="822960" cy="256032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ent Arrow 9"/>
          <p:cNvSpPr/>
          <p:nvPr/>
        </p:nvSpPr>
        <p:spPr>
          <a:xfrm>
            <a:off x="352044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nt Arrow 10"/>
          <p:cNvSpPr/>
          <p:nvPr/>
        </p:nvSpPr>
        <p:spPr>
          <a:xfrm rot="16200000">
            <a:off x="470916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ghtning Bolt 11"/>
          <p:cNvSpPr/>
          <p:nvPr/>
        </p:nvSpPr>
        <p:spPr>
          <a:xfrm>
            <a:off x="868680" y="3310128"/>
            <a:ext cx="384048" cy="868680"/>
          </a:xfrm>
          <a:prstGeom prst="lightningBol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action potential</a:t>
            </a:r>
          </a:p>
        </p:txBody>
      </p:sp>
      <p:sp>
        <p:nvSpPr>
          <p:cNvPr id="14" name="&quot;No&quot; Symbol 13"/>
          <p:cNvSpPr/>
          <p:nvPr/>
        </p:nvSpPr>
        <p:spPr>
          <a:xfrm>
            <a:off x="2331720" y="3310128"/>
            <a:ext cx="777240" cy="777240"/>
          </a:xfrm>
          <a:prstGeom prst="noSmoking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566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blocked here</a:t>
            </a:r>
          </a:p>
        </p:txBody>
      </p:sp>
      <p:sp>
        <p:nvSpPr>
          <p:cNvPr id="16" name="Up Arrow 15"/>
          <p:cNvSpPr/>
          <p:nvPr/>
        </p:nvSpPr>
        <p:spPr>
          <a:xfrm>
            <a:off x="4160520" y="3310128"/>
            <a:ext cx="310896" cy="822960"/>
          </a:xfrm>
          <a:prstGeom prst="upArrow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4572000" y="3310128"/>
            <a:ext cx="310896" cy="822960"/>
          </a:xfrm>
          <a:prstGeom prst="downArrow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4206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more /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BLANK PILL  —  copy it and type whatever you need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4748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F0774A"/>
                </a:solidFill>
                <a:latin typeface="Calibri"/>
              </a:rPr>
              <a:t>STRUCTURES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1920240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Sarcolemma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322576"/>
            <a:ext cx="125272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T-tubule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724912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89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SR (store)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127248"/>
            <a:ext cx="209397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01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Ca_v1.2 (L-type)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529584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RyR2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393192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A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SERCA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33425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2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NCX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4736592"/>
            <a:ext cx="177850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17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Phospholamban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513892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Troponin 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5541264"/>
            <a:ext cx="167335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Myofilaments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A8C2A"/>
                </a:solidFill>
                <a:latin typeface="Calibri"/>
              </a:rPr>
              <a:t>MOLECULES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192024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Ca²⁺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232257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B6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Na⁺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2724912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A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ATP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312724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Adrenaline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3529584"/>
            <a:ext cx="156819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β₁ receptor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393192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cAMP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433425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PKA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4736592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15727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E98A3C"/>
                </a:solidFill>
                <a:latin typeface="Calibri"/>
              </a:rPr>
              <a:t>WHAT IS HAPPENING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192024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CICR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0" y="2322576"/>
            <a:ext cx="160020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2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3 Na⁺ : 1 Ca²⁺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41280" y="2724912"/>
            <a:ext cx="156819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Contraction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312724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17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Relaxation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3529584"/>
            <a:ext cx="135788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17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Lusitropy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41280" y="3931920"/>
            <a:ext cx="104241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① RATE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4334256"/>
            <a:ext cx="114757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② FORCE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41280" y="4736592"/>
            <a:ext cx="160020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③ RELAXATION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41280" y="5138928"/>
            <a:ext cx="135788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Verapamil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5541264"/>
            <a:ext cx="135788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Diltiazem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1  ·  One beat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One action potential arrives. Build what happens next, all the way back to a relaxed cell.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where the first Ca²⁺ comes from  ·  why a small trigger makes a big release  ·  both routes that clear it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Paste your parts anywhere, then arrange. Nothing here is fixed — move the zone words if they are in your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EXTRACELLULAR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2  ·  Turn the sympathetic drive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Copy your Canvas 1 build onto this slide first (select all on slide 5, Ctrl+C, Ctrl+V here), then add adrenaline.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β₁ → cAMP → PKA  ·  the three targets, each on the molecule it acts on  ·  which arm fails in HFpEF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Rate is cAMP binding HCN directly. Force and relaxation are PKA phosphorylation. Do not draw all three the same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EXTRACELLULAR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3  ·  Stretch — narrow the door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if you finish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Same drawing. Now put verapamil and diltiazem where they act, and follow the consequence in two directions.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why the ventricular rate falls in AF with RVR  ·  why the same block is dangerous in HFrEF and in pre-excited 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Rate control is not rhythm control. Your drawing should make that obvious without a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SR  / 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CYTOSOL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EXTRACELLULAR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878</Words>
  <Application>Microsoft Office PowerPoint</Application>
  <PresentationFormat>Widescreen</PresentationFormat>
  <Paragraphs>119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Lina Shehadeh</cp:lastModifiedBy>
  <cp:revision>2</cp:revision>
  <dcterms:created xsi:type="dcterms:W3CDTF">2013-01-27T09:14:16Z</dcterms:created>
  <dcterms:modified xsi:type="dcterms:W3CDTF">2026-09-03T14:59:59Z</dcterms:modified>
  <cp:category/>
</cp:coreProperties>
</file>