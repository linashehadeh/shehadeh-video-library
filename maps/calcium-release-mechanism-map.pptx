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Build it: skeletal excitation–contraction coupling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Wrap-up session · work in pairs · you will draw the mechanism, not read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486400" cy="416052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470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HOW THIS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1.   Open the PARTS slides (3 and 4).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2.   Click an object, Ctrl+C. Go to your CANVAS slide, Ctrl+V.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3.   Drag it where it belongs.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4.   Ctrl+D duplicates whatever is selected — use it for the ions.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5.   Don't resize anything. The parts are already to scale with each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other, the same scale as the animation.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6.   Add arrows and label pills from slide 4. Type your own if one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is missing.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7.   Build first, then check. The answer is not on any slide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600200"/>
            <a:ext cx="4617720" cy="4160520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22592" y="184708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WHY WE'RE DOING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2240280"/>
            <a:ext cx="41148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You can already recognise this pathway. Recognition is not what the exam asks of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Rebuilding a mechanism out of loose parts forces you to commit to an order, a direction and a source — the three things people get wrong under pressure, and the three things a finished slide has already decided for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It is also a study tool you keep: any pathway, any drawing program. Build it once from parts and you stop needing to re-read the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 3 · Shehadeh Lab Foundational Science Library · videos.shehadehlab.com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The finished thing should teach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Before you start: what a complete Canvas 1 build has to make obvious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92224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What physically connects the T-tubule to the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1226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name both proteins, and show that they touch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9464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5786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Whether any Ca²⁺ has to cross the sarcolemma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8986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this is the whole difference from the heart — commit to an answer on the page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55848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364991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Which membrane each channel sits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85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one is in the T-tubule, one is in the SR; they are not interchangeable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42232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151376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What the released Ca²⁺ actually 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47141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the switch is on the thin filament here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28616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9377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How the store gets refilled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257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and what that step costs the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B03A5B"/>
                </a:solidFill>
                <a:latin typeface="Calibri"/>
              </a:rPr>
              <a:t>If a classmate can read the order of events off your drawing without you talking, it is finished.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Copy from here. Every part is at the same scale as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 3 · Shehadeh Lab Foundational Science Library · videos.shehadehlab.com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792224"/>
            <a:ext cx="14676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0774A"/>
                </a:solidFill>
                <a:latin typeface="Calibri"/>
              </a:rPr>
              <a:t>T-tubule membrane</a:t>
            </a:r>
          </a:p>
        </p:txBody>
      </p:sp>
      <p:pic>
        <p:nvPicPr>
          <p:cNvPr id="7" name="Picture 6" descr="ttub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644652" cy="3154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35024"/>
            <a:ext cx="10908792" cy="475488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5" y="1463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232A36"/>
                </a:solidFill>
                <a:latin typeface="Calibri"/>
              </a:rPr>
              <a:t>Left out on purpose: the myofilaments, troponin C, and the foot process that holds the two channels together. Draw those yourself — deciding where they go is half the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9636" y="2194102"/>
            <a:ext cx="182057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89A87"/>
                </a:solidFill>
                <a:latin typeface="Calibri"/>
              </a:rPr>
              <a:t>SR — empty</a:t>
            </a:r>
          </a:p>
        </p:txBody>
      </p:sp>
      <p:pic>
        <p:nvPicPr>
          <p:cNvPr id="11" name="Picture 10" descr="sr_emp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236" y="2504998"/>
            <a:ext cx="1363370" cy="27212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57326" y="2194102"/>
            <a:ext cx="182057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89A87"/>
                </a:solidFill>
                <a:latin typeface="Calibri"/>
              </a:rPr>
              <a:t>SR — full</a:t>
            </a:r>
          </a:p>
        </p:txBody>
      </p:sp>
      <p:pic>
        <p:nvPicPr>
          <p:cNvPr id="13" name="Picture 12" descr="sr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926" y="2504998"/>
            <a:ext cx="1363370" cy="27212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95017" y="2194102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7B3FA0"/>
                </a:solidFill>
                <a:latin typeface="Calibri"/>
              </a:rPr>
              <a:t>RyR1 shut</a:t>
            </a:r>
          </a:p>
        </p:txBody>
      </p:sp>
      <p:pic>
        <p:nvPicPr>
          <p:cNvPr id="15" name="Picture 14" descr="ryr1_clo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3617" y="3548786"/>
            <a:ext cx="510235" cy="6336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27705" y="2194102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7B3FA0"/>
                </a:solidFill>
                <a:latin typeface="Calibri"/>
              </a:rPr>
              <a:t>RyR1 open</a:t>
            </a:r>
          </a:p>
        </p:txBody>
      </p:sp>
      <p:pic>
        <p:nvPicPr>
          <p:cNvPr id="17" name="Picture 16" descr="ryr1_o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6305" y="3484321"/>
            <a:ext cx="567842" cy="7626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60393" y="2194102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E01A75"/>
                </a:solidFill>
                <a:latin typeface="Calibri"/>
              </a:rPr>
              <a:t>DHPR at rest</a:t>
            </a:r>
          </a:p>
        </p:txBody>
      </p:sp>
      <p:pic>
        <p:nvPicPr>
          <p:cNvPr id="19" name="Picture 18" descr="dhpr_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8993" y="3343046"/>
            <a:ext cx="565099" cy="104515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93081" y="2194102"/>
            <a:ext cx="11265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E01A75"/>
                </a:solidFill>
                <a:latin typeface="Calibri"/>
              </a:rPr>
              <a:t>DHPR — shape changed</a:t>
            </a:r>
          </a:p>
        </p:txBody>
      </p:sp>
      <p:pic>
        <p:nvPicPr>
          <p:cNvPr id="21" name="Picture 20" descr="dhpr_pull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1681" y="3316986"/>
            <a:ext cx="669340" cy="1097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36742" y="2194102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A7A6E"/>
                </a:solidFill>
                <a:latin typeface="Calibri"/>
              </a:rPr>
              <a:t>SERCA</a:t>
            </a:r>
          </a:p>
        </p:txBody>
      </p:sp>
      <p:pic>
        <p:nvPicPr>
          <p:cNvPr id="23" name="Picture 22" descr="serc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5342" y="3360877"/>
            <a:ext cx="625449" cy="100949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69430" y="2194102"/>
            <a:ext cx="201380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4A8C2A"/>
                </a:solidFill>
                <a:latin typeface="Calibri"/>
              </a:rPr>
              <a:t>Ca²⁺ by the handful</a:t>
            </a:r>
          </a:p>
        </p:txBody>
      </p:sp>
      <p:pic>
        <p:nvPicPr>
          <p:cNvPr id="25" name="Picture 24" descr="ca_clus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8030" y="3668115"/>
            <a:ext cx="474573" cy="395020"/>
          </a:xfrm>
          <a:prstGeom prst="rect">
            <a:avLst/>
          </a:prstGeom>
        </p:spPr>
      </p:pic>
      <p:pic>
        <p:nvPicPr>
          <p:cNvPr id="26" name="Picture 25" descr="ca_clus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9044" y="3668115"/>
            <a:ext cx="474573" cy="395020"/>
          </a:xfrm>
          <a:prstGeom prst="rect">
            <a:avLst/>
          </a:prstGeom>
        </p:spPr>
      </p:pic>
      <p:pic>
        <p:nvPicPr>
          <p:cNvPr id="27" name="Picture 26" descr="ca_clus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80057" y="3668115"/>
            <a:ext cx="474573" cy="3950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67399" y="5610301"/>
            <a:ext cx="146806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4A8C2A"/>
                </a:solidFill>
                <a:latin typeface="Calibri"/>
              </a:rPr>
              <a:t>single Ca²⁺  —  Ctrl+D</a:t>
            </a:r>
          </a:p>
        </p:txBody>
      </p:sp>
      <p:pic>
        <p:nvPicPr>
          <p:cNvPr id="29" name="Picture 28" descr="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5999" y="5921197"/>
            <a:ext cx="150876" cy="150876"/>
          </a:xfrm>
          <a:prstGeom prst="rect">
            <a:avLst/>
          </a:prstGeom>
        </p:spPr>
      </p:pic>
      <p:pic>
        <p:nvPicPr>
          <p:cNvPr id="30" name="Picture 29" descr="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7998" y="5921197"/>
            <a:ext cx="150876" cy="150876"/>
          </a:xfrm>
          <a:prstGeom prst="rect">
            <a:avLst/>
          </a:prstGeom>
        </p:spPr>
      </p:pic>
      <p:pic>
        <p:nvPicPr>
          <p:cNvPr id="31" name="Picture 30" descr="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9996" y="5921197"/>
            <a:ext cx="150876" cy="150876"/>
          </a:xfrm>
          <a:prstGeom prst="rect">
            <a:avLst/>
          </a:prstGeom>
        </p:spPr>
      </p:pic>
      <p:pic>
        <p:nvPicPr>
          <p:cNvPr id="32" name="Picture 31" descr="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1995" y="5921197"/>
            <a:ext cx="150876" cy="150876"/>
          </a:xfrm>
          <a:prstGeom prst="rect">
            <a:avLst/>
          </a:prstGeom>
        </p:spPr>
      </p:pic>
      <p:pic>
        <p:nvPicPr>
          <p:cNvPr id="33" name="Picture 32" descr="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3993" y="5921197"/>
            <a:ext cx="150876" cy="150876"/>
          </a:xfrm>
          <a:prstGeom prst="rect">
            <a:avLst/>
          </a:prstGeom>
        </p:spPr>
      </p:pic>
      <p:pic>
        <p:nvPicPr>
          <p:cNvPr id="34" name="Picture 33" descr="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5992" y="5921197"/>
            <a:ext cx="150876" cy="150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arrows and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Rotate an arrow by its top handle. Edit any pill by double-clicking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Colour key matches the video: Ca²⁺ green · DHPR magenta · RyR1 violet · SERCA grey · SR wall salmon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ARROWS  —  a direction is a claim; make it deliberately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41248" y="1938528"/>
            <a:ext cx="13716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841248" y="2395728"/>
            <a:ext cx="22860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41248" y="2852928"/>
            <a:ext cx="822960" cy="256032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ent Arrow 9"/>
          <p:cNvSpPr/>
          <p:nvPr/>
        </p:nvSpPr>
        <p:spPr>
          <a:xfrm>
            <a:off x="352044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ent Arrow 10"/>
          <p:cNvSpPr/>
          <p:nvPr/>
        </p:nvSpPr>
        <p:spPr>
          <a:xfrm rot="16200000">
            <a:off x="470916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ghtning Bolt 11"/>
          <p:cNvSpPr/>
          <p:nvPr/>
        </p:nvSpPr>
        <p:spPr>
          <a:xfrm>
            <a:off x="868680" y="3310128"/>
            <a:ext cx="384048" cy="868680"/>
          </a:xfrm>
          <a:prstGeom prst="lightningBol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566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signal arrives</a:t>
            </a:r>
          </a:p>
        </p:txBody>
      </p:sp>
      <p:sp>
        <p:nvSpPr>
          <p:cNvPr id="14" name="&quot;No&quot; Symbol 13"/>
          <p:cNvSpPr/>
          <p:nvPr/>
        </p:nvSpPr>
        <p:spPr>
          <a:xfrm>
            <a:off x="2331720" y="3310128"/>
            <a:ext cx="777240" cy="777240"/>
          </a:xfrm>
          <a:prstGeom prst="noSmoking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566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blocked here</a:t>
            </a:r>
          </a:p>
        </p:txBody>
      </p:sp>
      <p:sp>
        <p:nvSpPr>
          <p:cNvPr id="16" name="Up Arrow 15"/>
          <p:cNvSpPr/>
          <p:nvPr/>
        </p:nvSpPr>
        <p:spPr>
          <a:xfrm>
            <a:off x="4160520" y="3310128"/>
            <a:ext cx="310896" cy="822960"/>
          </a:xfrm>
          <a:prstGeom prst="upArrow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4572000" y="3310128"/>
            <a:ext cx="310896" cy="822960"/>
          </a:xfrm>
          <a:prstGeom prst="downArrow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9080" y="4206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more / 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BLANK PILL  —  copy it and type whatever you need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47488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F0774A"/>
                </a:solidFill>
                <a:latin typeface="Calibri"/>
              </a:rPr>
              <a:t>STRUCTURES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1920240"/>
            <a:ext cx="125272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0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T-tubule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322576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0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Sarcolemma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2724912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D89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SR (store)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127248"/>
            <a:ext cx="188366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01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DHPR (Ca_v1.1)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529584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RyR1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393192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A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SERCA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33425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Triad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4736592"/>
            <a:ext cx="167335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Myofilaments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A8C2A"/>
                </a:solidFill>
                <a:latin typeface="Calibri"/>
              </a:rPr>
              <a:t>MOLECULES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9288" y="192024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Ca²⁺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9288" y="232257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A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ATP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9288" y="2724912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Troponin 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9288" y="3127248"/>
            <a:ext cx="2103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Volatile anaesthetic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9288" y="3529584"/>
            <a:ext cx="19888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Succinylcholine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9288" y="3931920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Dantrolene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32136" y="1572768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E98A3C"/>
                </a:solidFill>
                <a:latin typeface="Calibri"/>
              </a:rPr>
              <a:t>WHAT IS HAPPENING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32136" y="1920240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Mechanical coupling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32136" y="2322576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No outside Ca²⁺ needed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32136" y="2724912"/>
            <a:ext cx="156819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Contraction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32136" y="3127248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A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Relaxation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32136" y="3529584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Stuck open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32136" y="3931920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Malignant hyperthermia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32136" y="4334256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Rising end-tidal CO₂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32136" y="4736592"/>
            <a:ext cx="125272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Rigidity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32136" y="5138928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Heat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1  ·  From voltage to contraction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A signal sweeps down the T-tubule. Build everything between that and a relaxed fibre again.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what physically links the two membranes  ·  whether outside Ca²⁺ is needed  ·  how the store refills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The two channels touch. If your drawing has a gap between them with Ca²⁺ crossing it, you have drawn the heart by mistake.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SR  / 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CYTOPLASM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T-TUBULE LUMEN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2  ·  Where anaesthesia hijacks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Same drawing. Now give this patient a RyR1 mutation and a volatile anaesthetic.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which channel jams  ·  why the temperature and the CO₂ climb  ·  exactly where dantrolene 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Heat and CO₂ are not the primary event — they are what a cell looks like when it cannot stop spending ATP. Your arrows should make that order obvious.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SR  / 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CYTOPLASM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T-TUBULE LUMEN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3  ·  Stretch — the same figure, one muscle 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if you finish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Draw the cardiac version beside this one and change only what actually differs.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the one structural difference  ·  what it does to the Ca²⁺ requirement  ·  which drug class it opens the door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Two drawings, one difference. If you find yourself changing more than one thing, you have changed something that does not really differ.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SR  / 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CYTOPLASM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T-TUBULE LUMEN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863</Words>
  <Application>Microsoft Office PowerPoint</Application>
  <PresentationFormat>Widescreen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Lina Shehadeh</cp:lastModifiedBy>
  <cp:revision>2</cp:revision>
  <dcterms:created xsi:type="dcterms:W3CDTF">2013-01-27T09:14:16Z</dcterms:created>
  <dcterms:modified xsi:type="dcterms:W3CDTF">2026-09-03T15:03:22Z</dcterms:modified>
  <cp:category/>
</cp:coreProperties>
</file>