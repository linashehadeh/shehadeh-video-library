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smooth muscle 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Build first, then check. The answer is not on any slide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6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The two places Ca²⁺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one outside the cell, one inside it — and which drug closes which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Ca²⁺ actually binds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there is no troponin in this cell; name the protein that takes its place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molecule carries the phosphate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 switch is on the myosin here, not on the thin filament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Why an unphosphorylated head is useless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show a head that cannot pull, next to one that can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Both enzymes running at the same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tone is a balance, not an on/off 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order of events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6 · Shehadeh Lab Foundational Science Library · videos.shehadehlab.com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792224"/>
            <a:ext cx="12887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Sarcolemma</a:t>
            </a:r>
          </a:p>
        </p:txBody>
      </p:sp>
      <p:pic>
        <p:nvPicPr>
          <p:cNvPr id="7" name="Picture 6" descr="membr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465772" cy="40004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Left out on purpose: guanylyl cyclase, PKG, and the pumps that clear Ca²⁺ again. Draw those yourself — deciding where they go is half the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734" y="2376011"/>
            <a:ext cx="18297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empty</a:t>
            </a:r>
          </a:p>
        </p:txBody>
      </p:sp>
      <p:pic>
        <p:nvPicPr>
          <p:cNvPr id="11" name="Picture 10" descr="sr_box_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334" y="2686907"/>
            <a:ext cx="1372514" cy="9273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9569" y="2376011"/>
            <a:ext cx="18297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full</a:t>
            </a:r>
          </a:p>
        </p:txBody>
      </p:sp>
      <p:pic>
        <p:nvPicPr>
          <p:cNvPr id="13" name="Picture 12" descr="sr_box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169" y="2686907"/>
            <a:ext cx="1372514" cy="927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56403" y="237601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7C9"/>
                </a:solidFill>
                <a:latin typeface="Calibri"/>
              </a:rPr>
              <a:t>IP₃ receptor</a:t>
            </a:r>
          </a:p>
        </p:txBody>
      </p:sp>
      <p:pic>
        <p:nvPicPr>
          <p:cNvPr id="15" name="Picture 14" descr="ip3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003" y="2876931"/>
            <a:ext cx="373532" cy="5472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091" y="237601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7C9"/>
                </a:solidFill>
                <a:latin typeface="Calibri"/>
              </a:rPr>
              <a:t>IP₃</a:t>
            </a:r>
          </a:p>
        </p:txBody>
      </p:sp>
      <p:pic>
        <p:nvPicPr>
          <p:cNvPr id="17" name="Picture 16" descr="i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691" y="3020263"/>
            <a:ext cx="275805" cy="2606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1779" y="2376011"/>
            <a:ext cx="12151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L-type shut</a:t>
            </a:r>
          </a:p>
        </p:txBody>
      </p:sp>
      <p:pic>
        <p:nvPicPr>
          <p:cNvPr id="19" name="Picture 18" descr="cav_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379" y="2922536"/>
            <a:ext cx="757923" cy="4560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54022" y="2376011"/>
            <a:ext cx="122598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L-type open</a:t>
            </a:r>
          </a:p>
        </p:txBody>
      </p:sp>
      <p:pic>
        <p:nvPicPr>
          <p:cNvPr id="21" name="Picture 20" descr="cav_l_o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2622" y="2910592"/>
            <a:ext cx="768781" cy="4799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97124" y="2376011"/>
            <a:ext cx="12151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L-type plugged</a:t>
            </a:r>
          </a:p>
        </p:txBody>
      </p:sp>
      <p:pic>
        <p:nvPicPr>
          <p:cNvPr id="23" name="Picture 22" descr="cav_l_block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5724" y="2922536"/>
            <a:ext cx="757923" cy="4560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29367" y="2376011"/>
            <a:ext cx="18318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contractile unit</a:t>
            </a:r>
          </a:p>
        </p:txBody>
      </p:sp>
      <p:pic>
        <p:nvPicPr>
          <p:cNvPr id="25" name="Picture 24" descr="filamen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7967" y="2779204"/>
            <a:ext cx="1374686" cy="7427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31869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E8794"/>
                </a:solidFill>
                <a:latin typeface="Calibri"/>
              </a:rPr>
              <a:t>calmodulin</a:t>
            </a:r>
          </a:p>
        </p:txBody>
      </p:sp>
      <p:pic>
        <p:nvPicPr>
          <p:cNvPr id="27" name="Picture 26" descr="c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0469" y="4941131"/>
            <a:ext cx="188937" cy="3170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64557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MLCK</a:t>
            </a:r>
          </a:p>
        </p:txBody>
      </p:sp>
      <p:pic>
        <p:nvPicPr>
          <p:cNvPr id="29" name="Picture 28" descr="ml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93157" y="4947646"/>
            <a:ext cx="193281" cy="30403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97245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2A88F"/>
                </a:solidFill>
                <a:latin typeface="Calibri"/>
              </a:rPr>
              <a:t>MLCP</a:t>
            </a:r>
          </a:p>
        </p:txBody>
      </p:sp>
      <p:pic>
        <p:nvPicPr>
          <p:cNvPr id="31" name="Picture 30" descr="mlc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5845" y="4930273"/>
            <a:ext cx="304037" cy="3387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9933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77C9"/>
                </a:solidFill>
                <a:latin typeface="Calibri"/>
              </a:rPr>
              <a:t>cAMP</a:t>
            </a:r>
          </a:p>
        </p:txBody>
      </p:sp>
      <p:pic>
        <p:nvPicPr>
          <p:cNvPr id="33" name="Picture 32" descr="cam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8533" y="4988909"/>
            <a:ext cx="264947" cy="22151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62621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4FA88B"/>
                </a:solidFill>
                <a:latin typeface="Calibri"/>
              </a:rPr>
              <a:t>NO</a:t>
            </a:r>
          </a:p>
        </p:txBody>
      </p:sp>
      <p:pic>
        <p:nvPicPr>
          <p:cNvPr id="35" name="Picture 34" descr="n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1221" y="4869465"/>
            <a:ext cx="277977" cy="4603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95309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endothelial cell</a:t>
            </a:r>
          </a:p>
        </p:txBody>
      </p:sp>
      <p:pic>
        <p:nvPicPr>
          <p:cNvPr id="37" name="Picture 36" descr="endotheliu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3909" y="4309167"/>
            <a:ext cx="360502" cy="158099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27997" y="399827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482"/>
                </a:solidFill>
                <a:latin typeface="Calibri"/>
              </a:rPr>
              <a:t>nitroprusside</a:t>
            </a:r>
          </a:p>
        </p:txBody>
      </p:sp>
      <p:pic>
        <p:nvPicPr>
          <p:cNvPr id="39" name="Picture 38" descr="nitroprussid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56597" y="4309167"/>
            <a:ext cx="360502" cy="1580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60685" y="3998271"/>
            <a:ext cx="113390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98A18"/>
                </a:solidFill>
                <a:latin typeface="Calibri"/>
              </a:rPr>
              <a:t>phosphate</a:t>
            </a:r>
          </a:p>
        </p:txBody>
      </p:sp>
      <p:pic>
        <p:nvPicPr>
          <p:cNvPr id="41" name="Picture 40" descr="phosph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89285" y="4996510"/>
            <a:ext cx="206311" cy="206311"/>
          </a:xfrm>
          <a:prstGeom prst="rect">
            <a:avLst/>
          </a:prstGeom>
        </p:spPr>
      </p:pic>
      <p:pic>
        <p:nvPicPr>
          <p:cNvPr id="42" name="Picture 41" descr="phosph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4480" y="4996510"/>
            <a:ext cx="206311" cy="206311"/>
          </a:xfrm>
          <a:prstGeom prst="rect">
            <a:avLst/>
          </a:prstGeom>
        </p:spPr>
      </p:pic>
      <p:pic>
        <p:nvPicPr>
          <p:cNvPr id="43" name="Picture 42" descr="phosph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59675" y="4996510"/>
            <a:ext cx="206311" cy="20631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11706" y="3998271"/>
            <a:ext cx="2680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Ca²⁺  —  click one, then Ctrl+D</a:t>
            </a:r>
          </a:p>
        </p:txBody>
      </p:sp>
      <p:pic>
        <p:nvPicPr>
          <p:cNvPr id="45" name="Picture 44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40306" y="4975879"/>
            <a:ext cx="247573" cy="247573"/>
          </a:xfrm>
          <a:prstGeom prst="rect">
            <a:avLst/>
          </a:prstGeom>
        </p:spPr>
      </p:pic>
      <p:pic>
        <p:nvPicPr>
          <p:cNvPr id="46" name="Picture 45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22540" y="4975879"/>
            <a:ext cx="247573" cy="247573"/>
          </a:xfrm>
          <a:prstGeom prst="rect">
            <a:avLst/>
          </a:prstGeom>
        </p:spPr>
      </p:pic>
      <p:pic>
        <p:nvPicPr>
          <p:cNvPr id="47" name="Picture 46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04775" y="4975879"/>
            <a:ext cx="247573" cy="247573"/>
          </a:xfrm>
          <a:prstGeom prst="rect">
            <a:avLst/>
          </a:prstGeom>
        </p:spPr>
      </p:pic>
      <p:pic>
        <p:nvPicPr>
          <p:cNvPr id="48" name="Picture 47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87009" y="4975879"/>
            <a:ext cx="247573" cy="247573"/>
          </a:xfrm>
          <a:prstGeom prst="rect">
            <a:avLst/>
          </a:prstGeom>
        </p:spPr>
      </p:pic>
      <p:pic>
        <p:nvPicPr>
          <p:cNvPr id="49" name="Picture 48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69243" y="4975879"/>
            <a:ext cx="247573" cy="247573"/>
          </a:xfrm>
          <a:prstGeom prst="rect">
            <a:avLst/>
          </a:prstGeom>
        </p:spPr>
      </p:pic>
      <p:pic>
        <p:nvPicPr>
          <p:cNvPr id="50" name="Picture 49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51477" y="4975879"/>
            <a:ext cx="247573" cy="247573"/>
          </a:xfrm>
          <a:prstGeom prst="rect">
            <a:avLst/>
          </a:prstGeom>
        </p:spPr>
      </p:pic>
      <p:pic>
        <p:nvPicPr>
          <p:cNvPr id="51" name="Picture 50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33711" y="4975879"/>
            <a:ext cx="247573" cy="247573"/>
          </a:xfrm>
          <a:prstGeom prst="rect">
            <a:avLst/>
          </a:prstGeom>
        </p:spPr>
      </p:pic>
      <p:pic>
        <p:nvPicPr>
          <p:cNvPr id="52" name="Picture 51" descr="c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15945" y="4975879"/>
            <a:ext cx="247573" cy="2475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 key matches the video: Ca²⁺ green · L-type magenta · IP₃ receptor blue · MLCK amber · MLCP teal · calmodulin cream · NO teal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signal arrives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0774A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Sarcolemma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01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L-type (DHP receptor)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8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SR (store)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167335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IP₃ receptor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Actin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104241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Myosin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Dense body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736592"/>
            <a:ext cx="209397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Endothelial 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MOLECULES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IP₃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272491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E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Calmodulin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12724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MLCK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2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MLCP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9288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ATP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9288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473659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cAMP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9288" y="513892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cGMP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54126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9288" y="594360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7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32136" y="1572768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WHAT IS HAPPENING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2136" y="192024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No troponin here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32136" y="2322576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Myosin–P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272491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Power stroke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32136" y="312724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LATCH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32136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Tone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32136" y="3931920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2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Relaxation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32136" y="433425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Vasodilation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32136" y="473659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Amlodipine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32136" y="513892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Nitroprusside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32136" y="5541264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Nitroglycerin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Switch the muscle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Calcium arrives. Build everything between that and a head that pulls.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the two Ca²⁺ sources  ·  what Ca²⁺ binds instead of troponin  ·  which filament carries the phosphate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The cover of the video asked: this muscle has no troponin, so what does calcium switch on? Your drawing is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OUTSIDE  /  LUMEN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Tone is a tug of war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Copy your Canvas 1 build here, then add the other enzyme and let both run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MLCK and MLCP working simultaneously  ·  where latch sits  ·  what cAMP does — and what it does not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cAMP does not strengthen the phosphatase. It blocks the kinase, and the phosphatase wins by default. Your arrows should say which.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OUTSIDE  /  LUMEN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Three ways to open a vessel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Same drawing. Add acetylcholine, nitroprusside and amlodipine, each acting where it really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one fails when the endothelium is dead  ·  which enzyme each route ends on  ·  where amlodipine 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Two of these end on the phosphatase and one never gets that far. Mark the endothelial cell dead and see which arrows survive.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OUTSIDE  /  LUMEN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