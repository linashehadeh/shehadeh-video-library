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3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Build it: the resting membrane potential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Wrap-up session · work in pairs · you will draw the mechanism, not read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00200"/>
            <a:ext cx="5486400" cy="416052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84708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98A3C"/>
                </a:solidFill>
                <a:latin typeface="Calibri"/>
              </a:rPr>
              <a:t>HOW THIS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49377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1.   Open the PARTS slides (3 and 4).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2.   Click an object, Ctrl+C. Go to your CANVAS slide, Ctrl+V.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3.   Drag it where it belongs.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4.   Ctrl+D duplicates whatever is selected — use it for the ions.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5.   Don't resize anything. The parts are already to scale with each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      other, the same scale as the animation.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6.   Add arrows and label pills from slide 4. Type your own if one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      is missing.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7.   Build first, then check. The answer is not on any slide 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600200"/>
            <a:ext cx="4617720" cy="4160520"/>
          </a:xfrm>
          <a:prstGeom prst="roundRect">
            <a:avLst>
              <a:gd name="adj" fmla="val 3000"/>
            </a:avLst>
          </a:prstGeom>
          <a:solidFill>
            <a:srgbClr val="FDF6EE"/>
          </a:solidFill>
          <a:ln w="12700">
            <a:solidFill>
              <a:srgbClr val="F0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22592" y="1847088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98A3C"/>
                </a:solidFill>
                <a:latin typeface="Calibri"/>
              </a:rPr>
              <a:t>WHY WE'RE DOING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2592" y="2240280"/>
            <a:ext cx="41148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0">
                <a:solidFill>
                  <a:srgbClr val="232A36"/>
                </a:solidFill>
                <a:latin typeface="Calibri"/>
              </a:rPr>
              <a:t>You can already recognise this pathway. Recognition is not what the exam asks of you.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232A36"/>
                </a:solidFill>
                <a:latin typeface="Calibri"/>
              </a:rPr>
              <a:t>Rebuilding a mechanism out of loose parts forces you to commit to an order, a direction and a source — the three things people get wrong under pressure, and the three things a finished slide has already decided for you.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232A36"/>
                </a:solidFill>
                <a:latin typeface="Calibri"/>
              </a:rPr>
              <a:t>It is also a study tool you keep: any pathway, any drawing program. Build it once from parts and you stop needing to re-read the slide.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Objects taken from Video 1 · Shehadeh Lab Foundational Science Library · videos.shehadehlab.com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The finished thing should teach itself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Before you start: what a complete Canvas 1 build has to make obvious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783080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792224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Which ion the resting membrane actually lets 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11226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and through which protein — a leak is not a gate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69464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57860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Where the negative charge that cannot leave is sitting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8986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this is the half of the answer people forget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55848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364991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Which way each ion would move if the membrane let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685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chemical gradient and electrical gradient are two different arrows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42232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151376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What the pump contributes, in two separate ways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471416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one of them is worth only a few millivolts — say which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928616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93776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Why the voltage settles instead of running 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5257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show the point where the two arrows on your chosen ion cancel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0080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B03A5B"/>
                </a:solidFill>
                <a:latin typeface="Calibri"/>
              </a:rPr>
              <a:t>If a classmate can read the reasoning off your drawing without you talking, it is finished.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PARTS  ·  structures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Copy from here. Every part is at the same scale as the others.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Objects taken from Video 1 · Shehadeh Lab Foundational Science Library · videos.shehadehlab.com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335024"/>
            <a:ext cx="10908792" cy="475488"/>
          </a:xfrm>
          <a:prstGeom prst="roundRect">
            <a:avLst>
              <a:gd name="adj" fmla="val 3000"/>
            </a:avLst>
          </a:prstGeom>
          <a:solidFill>
            <a:srgbClr val="FDF6EE"/>
          </a:solidFill>
          <a:ln w="12700">
            <a:solidFill>
              <a:srgbClr val="F0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5" y="1463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232A36"/>
                </a:solidFill>
                <a:latin typeface="Calibri"/>
              </a:rPr>
              <a:t>Every part here is cut from the film itself, so the ions carry their own labels. ATP and Pi are the exception — the animation renders them as a burst of light, which does not cut cleanly, so those two are drawn.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1" y="2811780"/>
            <a:ext cx="71140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0774A"/>
                </a:solidFill>
                <a:latin typeface="Calibri"/>
              </a:rPr>
              <a:t>lipid bilayer</a:t>
            </a:r>
          </a:p>
        </p:txBody>
      </p:sp>
      <p:pic>
        <p:nvPicPr>
          <p:cNvPr id="9" name="Picture 8" descr="bi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1" y="3275838"/>
            <a:ext cx="6656832" cy="6812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12963" y="2811780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8B5FC0"/>
                </a:solidFill>
                <a:latin typeface="Calibri"/>
              </a:rPr>
              <a:t>K⁺ leak · open</a:t>
            </a:r>
          </a:p>
        </p:txBody>
      </p:sp>
      <p:pic>
        <p:nvPicPr>
          <p:cNvPr id="11" name="Picture 10" descr="k_leak_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563" y="3170682"/>
            <a:ext cx="571500" cy="8915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37092" y="2811780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8B5FC0"/>
                </a:solidFill>
                <a:latin typeface="Calibri"/>
              </a:rPr>
              <a:t>K⁺ gated · shut</a:t>
            </a:r>
          </a:p>
        </p:txBody>
      </p:sp>
      <p:pic>
        <p:nvPicPr>
          <p:cNvPr id="13" name="Picture 12" descr="k_channel_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5692" y="3124962"/>
            <a:ext cx="539496" cy="9829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61220" y="2811780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0774A"/>
                </a:solidFill>
                <a:latin typeface="Calibri"/>
              </a:rPr>
              <a:t>Na⁺/K⁺ ATPase</a:t>
            </a:r>
          </a:p>
        </p:txBody>
      </p:sp>
      <p:pic>
        <p:nvPicPr>
          <p:cNvPr id="15" name="Picture 14" descr="na_k_pum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9820" y="3184398"/>
            <a:ext cx="658368" cy="8641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85348" y="2811780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4FA88B"/>
                </a:solidFill>
                <a:latin typeface="Calibri"/>
              </a:rPr>
              <a:t>Na⁺ gated · shut</a:t>
            </a:r>
          </a:p>
        </p:txBody>
      </p:sp>
      <p:pic>
        <p:nvPicPr>
          <p:cNvPr id="17" name="Picture 16" descr="na_channel_v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3948" y="3122676"/>
            <a:ext cx="553212" cy="9875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072121" y="4494276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5B6470"/>
                </a:solidFill>
                <a:latin typeface="Calibri"/>
              </a:rPr>
              <a:t>trapped anions A⁻</a:t>
            </a:r>
          </a:p>
        </p:txBody>
      </p:sp>
      <p:pic>
        <p:nvPicPr>
          <p:cNvPr id="19" name="Picture 18" descr="ani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300721" y="4805172"/>
            <a:ext cx="571500" cy="6492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096249" y="4494276"/>
            <a:ext cx="203435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D9A227"/>
                </a:solidFill>
                <a:latin typeface="Calibri"/>
              </a:rPr>
              <a:t>K⁺</a:t>
            </a:r>
          </a:p>
        </p:txBody>
      </p:sp>
      <p:pic>
        <p:nvPicPr>
          <p:cNvPr id="21" name="Picture 20" descr="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4849" y="5029200"/>
            <a:ext cx="201168" cy="201168"/>
          </a:xfrm>
          <a:prstGeom prst="rect">
            <a:avLst/>
          </a:prstGeom>
        </p:spPr>
      </p:pic>
      <p:pic>
        <p:nvPicPr>
          <p:cNvPr id="22" name="Picture 21" descr="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4181" y="5029200"/>
            <a:ext cx="201168" cy="201168"/>
          </a:xfrm>
          <a:prstGeom prst="rect">
            <a:avLst/>
          </a:prstGeom>
        </p:spPr>
      </p:pic>
      <p:pic>
        <p:nvPicPr>
          <p:cNvPr id="23" name="Picture 22" descr="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3512" y="5029200"/>
            <a:ext cx="201168" cy="201168"/>
          </a:xfrm>
          <a:prstGeom prst="rect">
            <a:avLst/>
          </a:prstGeom>
        </p:spPr>
      </p:pic>
      <p:pic>
        <p:nvPicPr>
          <p:cNvPr id="24" name="Picture 23" descr="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2844" y="5029200"/>
            <a:ext cx="201168" cy="201168"/>
          </a:xfrm>
          <a:prstGeom prst="rect">
            <a:avLst/>
          </a:prstGeom>
        </p:spPr>
      </p:pic>
      <p:pic>
        <p:nvPicPr>
          <p:cNvPr id="25" name="Picture 24" descr="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2175" y="5029200"/>
            <a:ext cx="201168" cy="201168"/>
          </a:xfrm>
          <a:prstGeom prst="rect">
            <a:avLst/>
          </a:prstGeom>
        </p:spPr>
      </p:pic>
      <p:pic>
        <p:nvPicPr>
          <p:cNvPr id="26" name="Picture 25" descr="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1507" y="5029200"/>
            <a:ext cx="201168" cy="201168"/>
          </a:xfrm>
          <a:prstGeom prst="rect">
            <a:avLst/>
          </a:prstGeom>
        </p:spPr>
      </p:pic>
      <p:pic>
        <p:nvPicPr>
          <p:cNvPr id="27" name="Picture 26" descr="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0838" y="5029200"/>
            <a:ext cx="201168" cy="2011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39166" y="4494276"/>
            <a:ext cx="203435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7B6BC4"/>
                </a:solidFill>
                <a:latin typeface="Calibri"/>
              </a:rPr>
              <a:t>Na⁺</a:t>
            </a:r>
          </a:p>
        </p:txBody>
      </p:sp>
      <p:pic>
        <p:nvPicPr>
          <p:cNvPr id="29" name="Picture 28" descr="n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67766" y="5029200"/>
            <a:ext cx="201168" cy="201168"/>
          </a:xfrm>
          <a:prstGeom prst="rect">
            <a:avLst/>
          </a:prstGeom>
        </p:spPr>
      </p:pic>
      <p:pic>
        <p:nvPicPr>
          <p:cNvPr id="30" name="Picture 29" descr="n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97098" y="5029200"/>
            <a:ext cx="201168" cy="201168"/>
          </a:xfrm>
          <a:prstGeom prst="rect">
            <a:avLst/>
          </a:prstGeom>
        </p:spPr>
      </p:pic>
      <p:pic>
        <p:nvPicPr>
          <p:cNvPr id="31" name="Picture 30" descr="n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26429" y="5029200"/>
            <a:ext cx="201168" cy="201168"/>
          </a:xfrm>
          <a:prstGeom prst="rect">
            <a:avLst/>
          </a:prstGeom>
        </p:spPr>
      </p:pic>
      <p:pic>
        <p:nvPicPr>
          <p:cNvPr id="32" name="Picture 31" descr="n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5761" y="5029200"/>
            <a:ext cx="201168" cy="201168"/>
          </a:xfrm>
          <a:prstGeom prst="rect">
            <a:avLst/>
          </a:prstGeom>
        </p:spPr>
      </p:pic>
      <p:pic>
        <p:nvPicPr>
          <p:cNvPr id="33" name="Picture 32" descr="n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5093" y="5029200"/>
            <a:ext cx="201168" cy="201168"/>
          </a:xfrm>
          <a:prstGeom prst="rect">
            <a:avLst/>
          </a:prstGeom>
        </p:spPr>
      </p:pic>
      <p:pic>
        <p:nvPicPr>
          <p:cNvPr id="34" name="Picture 33" descr="n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4424" y="5029200"/>
            <a:ext cx="201168" cy="201168"/>
          </a:xfrm>
          <a:prstGeom prst="rect">
            <a:avLst/>
          </a:prstGeom>
        </p:spPr>
      </p:pic>
      <p:pic>
        <p:nvPicPr>
          <p:cNvPr id="35" name="Picture 34" descr="n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3756" y="5029200"/>
            <a:ext cx="201168" cy="201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82084" y="4494276"/>
            <a:ext cx="14231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B5503C"/>
                </a:solidFill>
                <a:latin typeface="Calibri"/>
              </a:rPr>
              <a:t>Cl⁻</a:t>
            </a:r>
          </a:p>
        </p:txBody>
      </p:sp>
      <p:pic>
        <p:nvPicPr>
          <p:cNvPr id="37" name="Picture 36" descr="c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0684" y="5042916"/>
            <a:ext cx="173736" cy="173736"/>
          </a:xfrm>
          <a:prstGeom prst="rect">
            <a:avLst/>
          </a:prstGeom>
        </p:spPr>
      </p:pic>
      <p:pic>
        <p:nvPicPr>
          <p:cNvPr id="38" name="Picture 37" descr="c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8743" y="5042916"/>
            <a:ext cx="173736" cy="173736"/>
          </a:xfrm>
          <a:prstGeom prst="rect">
            <a:avLst/>
          </a:prstGeom>
        </p:spPr>
      </p:pic>
      <p:pic>
        <p:nvPicPr>
          <p:cNvPr id="39" name="Picture 38" descr="c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6802" y="5042916"/>
            <a:ext cx="173736" cy="173736"/>
          </a:xfrm>
          <a:prstGeom prst="rect">
            <a:avLst/>
          </a:prstGeom>
        </p:spPr>
      </p:pic>
      <p:pic>
        <p:nvPicPr>
          <p:cNvPr id="40" name="Picture 39" descr="c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04861" y="5042916"/>
            <a:ext cx="173736" cy="173736"/>
          </a:xfrm>
          <a:prstGeom prst="rect">
            <a:avLst/>
          </a:prstGeom>
        </p:spPr>
      </p:pic>
      <p:pic>
        <p:nvPicPr>
          <p:cNvPr id="41" name="Picture 40" descr="c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2920" y="5042916"/>
            <a:ext cx="173736" cy="17373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313816" y="4494276"/>
            <a:ext cx="118122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D9A227"/>
                </a:solidFill>
                <a:latin typeface="Calibri"/>
              </a:rPr>
              <a:t>ATP</a:t>
            </a:r>
          </a:p>
        </p:txBody>
      </p:sp>
      <p:pic>
        <p:nvPicPr>
          <p:cNvPr id="43" name="Picture 42" descr="at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42416" y="4960620"/>
            <a:ext cx="338328" cy="338328"/>
          </a:xfrm>
          <a:prstGeom prst="rect">
            <a:avLst/>
          </a:prstGeom>
        </p:spPr>
      </p:pic>
      <p:pic>
        <p:nvPicPr>
          <p:cNvPr id="44" name="Picture 43" descr="at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28110" y="4960620"/>
            <a:ext cx="338328" cy="33832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403598" y="4494276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98A18"/>
                </a:solidFill>
                <a:latin typeface="Calibri"/>
              </a:rPr>
              <a:t>Pi</a:t>
            </a:r>
          </a:p>
        </p:txBody>
      </p:sp>
      <p:pic>
        <p:nvPicPr>
          <p:cNvPr id="46" name="Picture 45" descr="p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32198" y="5001768"/>
            <a:ext cx="256032" cy="256032"/>
          </a:xfrm>
          <a:prstGeom prst="rect">
            <a:avLst/>
          </a:prstGeom>
        </p:spPr>
      </p:pic>
      <p:pic>
        <p:nvPicPr>
          <p:cNvPr id="47" name="Picture 46" descr="p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24074" y="5001768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PARTS  ·  arrows and labels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Rotate an arrow by its top handle. Edit any pill by double-clicking the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Colours follow the film: K⁺ gold · Na⁺ violet · Cl⁻ red · trapped anions brown · pump amber · K⁺ channels purple · Na⁺ channels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7276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6B7482"/>
                </a:solidFill>
                <a:latin typeface="Calibri"/>
              </a:rPr>
              <a:t>ARROWS  —  a direction is a claim; make it deliberately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41248" y="1938528"/>
            <a:ext cx="1371600" cy="310896"/>
          </a:xfrm>
          <a:prstGeom prst="righ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841248" y="2395728"/>
            <a:ext cx="2286000" cy="310896"/>
          </a:xfrm>
          <a:prstGeom prst="righ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841248" y="2852928"/>
            <a:ext cx="822960" cy="256032"/>
          </a:xfrm>
          <a:prstGeom prst="righ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ent Arrow 9"/>
          <p:cNvSpPr/>
          <p:nvPr/>
        </p:nvSpPr>
        <p:spPr>
          <a:xfrm>
            <a:off x="3520440" y="1874519"/>
            <a:ext cx="1005840" cy="1005840"/>
          </a:xfrm>
          <a:prstGeom prst="ben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ent Arrow 10"/>
          <p:cNvSpPr/>
          <p:nvPr/>
        </p:nvSpPr>
        <p:spPr>
          <a:xfrm rot="16200000">
            <a:off x="4709160" y="1874519"/>
            <a:ext cx="1005840" cy="1005840"/>
          </a:xfrm>
          <a:prstGeom prst="ben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ghtning Bolt 11"/>
          <p:cNvSpPr/>
          <p:nvPr/>
        </p:nvSpPr>
        <p:spPr>
          <a:xfrm>
            <a:off x="868680" y="3310128"/>
            <a:ext cx="384048" cy="868680"/>
          </a:xfrm>
          <a:prstGeom prst="lightningBol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5661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482"/>
                </a:solidFill>
                <a:latin typeface="Calibri"/>
              </a:rPr>
              <a:t>signal arrives</a:t>
            </a:r>
          </a:p>
        </p:txBody>
      </p:sp>
      <p:sp>
        <p:nvSpPr>
          <p:cNvPr id="14" name="&quot;No&quot; Symbol 13"/>
          <p:cNvSpPr/>
          <p:nvPr/>
        </p:nvSpPr>
        <p:spPr>
          <a:xfrm>
            <a:off x="2331720" y="3310128"/>
            <a:ext cx="777240" cy="777240"/>
          </a:xfrm>
          <a:prstGeom prst="noSmoking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35661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482"/>
                </a:solidFill>
                <a:latin typeface="Calibri"/>
              </a:rPr>
              <a:t>blocked here</a:t>
            </a:r>
          </a:p>
        </p:txBody>
      </p:sp>
      <p:sp>
        <p:nvSpPr>
          <p:cNvPr id="16" name="Up Arrow 15"/>
          <p:cNvSpPr/>
          <p:nvPr/>
        </p:nvSpPr>
        <p:spPr>
          <a:xfrm>
            <a:off x="4160520" y="3310128"/>
            <a:ext cx="310896" cy="822960"/>
          </a:xfrm>
          <a:prstGeom prst="upArrow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wn Arrow 16"/>
          <p:cNvSpPr/>
          <p:nvPr/>
        </p:nvSpPr>
        <p:spPr>
          <a:xfrm>
            <a:off x="4572000" y="3310128"/>
            <a:ext cx="310896" cy="822960"/>
          </a:xfrm>
          <a:prstGeom prst="downArrow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69080" y="4206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482"/>
                </a:solidFill>
                <a:latin typeface="Calibri"/>
              </a:rPr>
              <a:t>more / less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7091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6B7482"/>
                </a:solidFill>
                <a:latin typeface="Calibri"/>
              </a:rPr>
              <a:t>BLANK PILL  —  copy it and type whatever you need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047488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6B7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1572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F0774A"/>
                </a:solidFill>
                <a:latin typeface="Calibri"/>
              </a:rPr>
              <a:t>STRUCTURES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1920240"/>
            <a:ext cx="1778508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F07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Lipid bilayer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2322576"/>
            <a:ext cx="1778508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F07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Na⁺/K⁺ ATPase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2724912"/>
            <a:ext cx="19888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8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K⁺ leak channel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3127248"/>
            <a:ext cx="2093976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8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Voltage-gated K⁺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3529584"/>
            <a:ext cx="2103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4FA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Voltage-gated Na⁺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06440" y="3931920"/>
            <a:ext cx="2103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Extracellular fluid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4334256"/>
            <a:ext cx="1147572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Cytosol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9288" y="1572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4A8C2A"/>
                </a:solidFill>
                <a:latin typeface="Calibri"/>
              </a:rPr>
              <a:t>MOLECULES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9288" y="1920240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7B6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Na⁺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9288" y="2322576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D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K⁺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9288" y="2724912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5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Cl⁻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19288" y="3127248"/>
            <a:ext cx="19888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5B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A⁻ (impermeant)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9288" y="3529584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D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ATP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19288" y="3931920"/>
            <a:ext cx="1252728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C98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ADP + 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32136" y="1572768"/>
            <a:ext cx="18379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E98A3C"/>
                </a:solidFill>
                <a:latin typeface="Calibri"/>
              </a:rPr>
              <a:t>WHAT IS HAPPENING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32136" y="1920240"/>
            <a:ext cx="1042416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−70 mV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32136" y="2322576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F07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3 Na⁺ out : 2 K⁺ 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32136" y="2724912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E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Chemical gradient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32136" y="3127248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E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Electrical gradient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32136" y="3529584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Equilibrium potential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32136" y="3931920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8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Most permeable at rest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32136" y="4334256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Net loss of positive charge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32136" y="4736592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4FA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Depolarisation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32136" y="5138928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8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Hyperpolarisation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2A36"/>
                </a:solidFill>
                <a:latin typeface="Calibri"/>
              </a:rPr>
              <a:t>Canvas 1  ·  Why the inside is negative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417320" cy="38404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232A36"/>
                </a:solidFill>
                <a:latin typeface="Calibri"/>
              </a:rPr>
              <a:t>Build a cell at rest. Put every charge where it actually is, not where it would like to be.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B03A5B"/>
                </a:solidFill>
                <a:latin typeface="Calibri"/>
              </a:rPr>
              <a:t>MUST SHOW:   which ion leaks and through what  ·  where the trapped negative charge sits  ·  what the pump adds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C6CDD5"/>
                </a:solidFill>
                <a:latin typeface="Calibri"/>
              </a:rPr>
              <a:t>Two arrows on potassium — one chemical, one electrical. The resting potential is where they stop arguing.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EXTRACELLULAR FLUID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064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CYTOSOL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2A36"/>
                </a:solidFill>
                <a:latin typeface="Calibri"/>
              </a:rPr>
              <a:t>Canvas 2  ·  Change one thing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417320" cy="38404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232A36"/>
                </a:solidFill>
                <a:latin typeface="Calibri"/>
              </a:rPr>
              <a:t>Copy your build here twice. On the first, raise extracellular K⁺. On the second, stop the pump.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B03A5B"/>
                </a:solidFill>
                <a:latin typeface="Calibri"/>
              </a:rPr>
              <a:t>MUST SHOW:   which way the membrane potential moves in each  ·  how fast  ·  which of the two is the emergency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C6CDD5"/>
                </a:solidFill>
                <a:latin typeface="Calibri"/>
              </a:rPr>
              <a:t>One of these moves the voltage in seconds and the other over hours. Your drawing should say which, and why.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EXTRACELLULAR FLUID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064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CYTOSOL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2A36"/>
                </a:solidFill>
                <a:latin typeface="Calibri"/>
              </a:rPr>
              <a:t>Canvas 3  ·  Stretch — how much is the pump worth?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417320" cy="38404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if you finish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232A36"/>
                </a:solidFill>
                <a:latin typeface="Calibri"/>
              </a:rPr>
              <a:t>Separate the two things the pump does, and mark how many millivolts each is worth.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B03A5B"/>
                </a:solidFill>
                <a:latin typeface="Calibri"/>
              </a:rPr>
              <a:t>MUST SHOW:   the gradient it maintains  ·  the charge it moves directly  ·  which one dominates the resting voltage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C6CDD5"/>
                </a:solidFill>
                <a:latin typeface="Calibri"/>
              </a:rPr>
              <a:t>If you take out the pump's direct electrogenic contribution, the resting potential barely moves. Say why it still matters.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EXTRACELLULAR FLUID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064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CYTOSOL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897</Words>
  <Application>Microsoft Office PowerPoint</Application>
  <PresentationFormat>Widescreen</PresentationFormat>
  <Paragraphs>105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Lina Shehadeh</cp:lastModifiedBy>
  <cp:revision>3</cp:revision>
  <dcterms:created xsi:type="dcterms:W3CDTF">2013-01-27T09:14:16Z</dcterms:created>
  <dcterms:modified xsi:type="dcterms:W3CDTF">2026-09-04T13:34:12Z</dcterms:modified>
  <cp:category/>
</cp:coreProperties>
</file>