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53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232A36"/>
                </a:solidFill>
                <a:latin typeface="Calibri"/>
              </a:rPr>
              <a:t>Build it: the cross-bridge 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932688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06070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B7482"/>
                </a:solidFill>
                <a:latin typeface="Calibri"/>
              </a:rPr>
              <a:t>Wrap-up session · work in pairs · you will draw the mechanism, not read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00200"/>
            <a:ext cx="5486400" cy="416052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84708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98A3C"/>
                </a:solidFill>
                <a:latin typeface="Calibri"/>
              </a:rPr>
              <a:t>HOW THIS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493776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1.   Open the PARTS slides (3 and 4).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2.   Click an object, Ctrl+C. Go to your CANVAS slide, Ctrl+V.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3.   Drag it where it belongs.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4.   Ctrl+D duplicates whatever is selected — use it for the ions.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5.   Don't resize anything. The parts are already to scale with each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      other, the same scale as the animation.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6.   Add arrows and label pills from slide 4. Type your own if one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      is missing.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7.   Build first, then check. The answer is not on any slide 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600200"/>
            <a:ext cx="4617720" cy="4160520"/>
          </a:xfrm>
          <a:prstGeom prst="roundRect">
            <a:avLst>
              <a:gd name="adj" fmla="val 3000"/>
            </a:avLst>
          </a:prstGeom>
          <a:solidFill>
            <a:srgbClr val="FDF6EE"/>
          </a:solidFill>
          <a:ln w="12700">
            <a:solidFill>
              <a:srgbClr val="F0D9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22592" y="1847088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98A3C"/>
                </a:solidFill>
                <a:latin typeface="Calibri"/>
              </a:rPr>
              <a:t>WHY WE'RE DOING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22592" y="2240280"/>
            <a:ext cx="411480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0">
                <a:solidFill>
                  <a:srgbClr val="232A36"/>
                </a:solidFill>
                <a:latin typeface="Calibri"/>
              </a:rPr>
              <a:t>You can already recognise this pathway. Recognition is not what the exam asks of you.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232A36"/>
                </a:solidFill>
                <a:latin typeface="Calibri"/>
              </a:rPr>
              <a:t>Rebuilding a mechanism out of loose parts forces you to commit to an order, a direction and a source — the three things people get wrong under pressure, and the three things a finished slide has already decided for you.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232A36"/>
                </a:solidFill>
                <a:latin typeface="Calibri"/>
              </a:rPr>
              <a:t>It is also a study tool you keep: any pathway, any drawing program. Build it once from parts and you stop needing to re-read the slide.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64465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C6CDD5"/>
                </a:solidFill>
                <a:latin typeface="Calibri"/>
              </a:rPr>
              <a:t>Parts drawn to match Video 2 · Shehadeh Lab Foundational Science Library · videos.shehadehlab.com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232A36"/>
                </a:solidFill>
                <a:latin typeface="Calibri"/>
              </a:rPr>
              <a:t>The finished thing should teach itself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932688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06070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B7482"/>
                </a:solidFill>
                <a:latin typeface="Calibri"/>
              </a:rPr>
              <a:t>Before you start: what a complete Canvas 1 build has to make obvious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783080"/>
            <a:ext cx="384048" cy="384048"/>
          </a:xfrm>
          <a:prstGeom prst="ellipse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1792224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32A36"/>
                </a:solidFill>
                <a:latin typeface="Calibri"/>
              </a:rPr>
              <a:t>What is sitting in the nucleotide pocket at every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11226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B7482"/>
                </a:solidFill>
                <a:latin typeface="Calibri"/>
              </a:rPr>
              <a:t>ATP, ADP + Pi, ADP alone, or nothing — the cycle is defined by this, not by the pictures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569464"/>
            <a:ext cx="384048" cy="384048"/>
          </a:xfrm>
          <a:prstGeom prst="ellipse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578608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32A36"/>
                </a:solidFill>
                <a:latin typeface="Calibri"/>
              </a:rPr>
              <a:t>Which step is the power stroke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8986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B7482"/>
                </a:solidFill>
                <a:latin typeface="Calibri"/>
              </a:rPr>
              <a:t>and which way the thin filament moves when it happens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355848"/>
            <a:ext cx="384048" cy="384048"/>
          </a:xfrm>
          <a:prstGeom prst="ellipse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3364991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32A36"/>
                </a:solidFill>
                <a:latin typeface="Calibri"/>
              </a:rPr>
              <a:t>Which step spends ATP, and which step is released by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6850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B7482"/>
                </a:solidFill>
                <a:latin typeface="Calibri"/>
              </a:rPr>
              <a:t>these are two different steps; most people merge them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42232"/>
            <a:ext cx="384048" cy="384048"/>
          </a:xfrm>
          <a:prstGeom prst="ellipse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4151376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32A36"/>
                </a:solidFill>
                <a:latin typeface="Calibri"/>
              </a:rPr>
              <a:t>Where the cycle stops if ATP runs 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4471416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B7482"/>
                </a:solidFill>
                <a:latin typeface="Calibri"/>
              </a:rPr>
              <a:t>name the state, and say what the muscle feels like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928616"/>
            <a:ext cx="384048" cy="384048"/>
          </a:xfrm>
          <a:prstGeom prst="ellipse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93776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32A36"/>
                </a:solidFill>
                <a:latin typeface="Calibri"/>
              </a:rPr>
              <a:t>That the cycle is a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5257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B7482"/>
                </a:solidFill>
                <a:latin typeface="Calibri"/>
              </a:rPr>
              <a:t>your last step has to hand over to your 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40080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B03A5B"/>
                </a:solidFill>
                <a:latin typeface="Calibri"/>
              </a:rPr>
              <a:t>If a classmate can read the order of events off your drawing without you talking, it is finished.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232A36"/>
                </a:solidFill>
                <a:latin typeface="Calibri"/>
              </a:rPr>
              <a:t>PARTS  ·  structures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932688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06070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B7482"/>
                </a:solidFill>
                <a:latin typeface="Calibri"/>
              </a:rPr>
              <a:t>Copy from here. Every part is at the same scale as the others.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4465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C6CDD5"/>
                </a:solidFill>
                <a:latin typeface="Calibri"/>
              </a:rPr>
              <a:t>Parts drawn to match Video 2 · Shehadeh Lab Foundational Science Library · videos.shehadehlab.com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335024"/>
            <a:ext cx="10908792" cy="475488"/>
          </a:xfrm>
          <a:prstGeom prst="roundRect">
            <a:avLst>
              <a:gd name="adj" fmla="val 3000"/>
            </a:avLst>
          </a:prstGeom>
          <a:solidFill>
            <a:srgbClr val="FDF6EE"/>
          </a:solidFill>
          <a:ln w="12700">
            <a:solidFill>
              <a:srgbClr val="F0D9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2415" y="14630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232A36"/>
                </a:solidFill>
                <a:latin typeface="Calibri"/>
              </a:rPr>
              <a:t>These parts are drawn rather than lifted from the film: Video 2's animation is too small on screen to cut clean pieces from. The colours are the ones the closing card uses.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4299" y="2306456"/>
            <a:ext cx="329372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B5503C"/>
                </a:solidFill>
                <a:latin typeface="Calibri"/>
              </a:rPr>
              <a:t>thin filament — sites covered</a:t>
            </a:r>
          </a:p>
        </p:txBody>
      </p:sp>
      <p:pic>
        <p:nvPicPr>
          <p:cNvPr id="9" name="Picture 8" descr="actin_blo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899" y="2617352"/>
            <a:ext cx="2836523" cy="4509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5143" y="2306456"/>
            <a:ext cx="329372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B5503C"/>
                </a:solidFill>
                <a:latin typeface="Calibri"/>
              </a:rPr>
              <a:t>thin filament — sites exposed</a:t>
            </a:r>
          </a:p>
        </p:txBody>
      </p:sp>
      <p:pic>
        <p:nvPicPr>
          <p:cNvPr id="11" name="Picture 10" descr="actin_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743" y="2631899"/>
            <a:ext cx="2836523" cy="42184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15987" y="2306456"/>
            <a:ext cx="338100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8B5FC0"/>
                </a:solidFill>
                <a:latin typeface="Calibri"/>
              </a:rPr>
              <a:t>thick filament</a:t>
            </a:r>
          </a:p>
        </p:txBody>
      </p:sp>
      <p:pic>
        <p:nvPicPr>
          <p:cNvPr id="13" name="Picture 12" descr="thick_fila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4587" y="2675538"/>
            <a:ext cx="2923801" cy="3345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7529" y="3452335"/>
            <a:ext cx="30694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8B5FC0"/>
                </a:solidFill>
                <a:latin typeface="Calibri"/>
              </a:rPr>
              <a:t>head — lever cocked</a:t>
            </a:r>
          </a:p>
        </p:txBody>
      </p:sp>
      <p:pic>
        <p:nvPicPr>
          <p:cNvPr id="15" name="Picture 14" descr="head_cock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129" y="4443269"/>
            <a:ext cx="796408" cy="836410"/>
          </a:xfrm>
          <a:prstGeom prst="rect">
            <a:avLst/>
          </a:prstGeom>
        </p:spPr>
      </p:pic>
      <p:pic>
        <p:nvPicPr>
          <p:cNvPr id="16" name="Picture 15" descr="head_cock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4034" y="4443269"/>
            <a:ext cx="796408" cy="836410"/>
          </a:xfrm>
          <a:prstGeom prst="rect">
            <a:avLst/>
          </a:prstGeom>
        </p:spPr>
      </p:pic>
      <p:pic>
        <p:nvPicPr>
          <p:cNvPr id="17" name="Picture 16" descr="head_cock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1940" y="4443269"/>
            <a:ext cx="796408" cy="83641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514069" y="3452335"/>
            <a:ext cx="304556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8B5FC0"/>
                </a:solidFill>
                <a:latin typeface="Calibri"/>
              </a:rPr>
              <a:t>head — lever swung</a:t>
            </a:r>
          </a:p>
        </p:txBody>
      </p:sp>
      <p:pic>
        <p:nvPicPr>
          <p:cNvPr id="19" name="Picture 18" descr="head_strok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2669" y="4390539"/>
            <a:ext cx="789135" cy="941871"/>
          </a:xfrm>
          <a:prstGeom prst="rect">
            <a:avLst/>
          </a:prstGeom>
        </p:spPr>
      </p:pic>
      <p:pic>
        <p:nvPicPr>
          <p:cNvPr id="20" name="Picture 19" descr="head_strok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2283" y="4390539"/>
            <a:ext cx="789135" cy="941871"/>
          </a:xfrm>
          <a:prstGeom prst="rect">
            <a:avLst/>
          </a:prstGeom>
        </p:spPr>
      </p:pic>
      <p:pic>
        <p:nvPicPr>
          <p:cNvPr id="21" name="Picture 20" descr="head_strok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1897" y="4390539"/>
            <a:ext cx="789135" cy="94187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76753" y="3452335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8B5FC0"/>
                </a:solidFill>
                <a:latin typeface="Calibri"/>
              </a:rPr>
              <a:t>Z disc</a:t>
            </a:r>
          </a:p>
        </p:txBody>
      </p:sp>
      <p:pic>
        <p:nvPicPr>
          <p:cNvPr id="23" name="Picture 22" descr="z_dis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5353" y="3763231"/>
            <a:ext cx="283652" cy="2196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309441" y="3452335"/>
            <a:ext cx="12042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D9A227"/>
                </a:solidFill>
                <a:latin typeface="Calibri"/>
              </a:rPr>
              <a:t>ATP</a:t>
            </a:r>
          </a:p>
        </p:txBody>
      </p:sp>
      <p:pic>
        <p:nvPicPr>
          <p:cNvPr id="25" name="Picture 24" descr="at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8041" y="4686919"/>
            <a:ext cx="349110" cy="349110"/>
          </a:xfrm>
          <a:prstGeom prst="rect">
            <a:avLst/>
          </a:prstGeom>
        </p:spPr>
      </p:pic>
      <p:pic>
        <p:nvPicPr>
          <p:cNvPr id="26" name="Picture 25" descr="at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6027" y="4686919"/>
            <a:ext cx="349110" cy="34911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330858" y="3452335"/>
            <a:ext cx="12042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D9A227"/>
                </a:solidFill>
                <a:latin typeface="Calibri"/>
              </a:rPr>
              <a:t>ADP</a:t>
            </a:r>
          </a:p>
        </p:txBody>
      </p:sp>
      <p:pic>
        <p:nvPicPr>
          <p:cNvPr id="28" name="Picture 27" descr="ad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59458" y="4686919"/>
            <a:ext cx="349110" cy="349110"/>
          </a:xfrm>
          <a:prstGeom prst="rect">
            <a:avLst/>
          </a:prstGeom>
        </p:spPr>
      </p:pic>
      <p:pic>
        <p:nvPicPr>
          <p:cNvPr id="29" name="Picture 28" descr="ad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7444" y="4686919"/>
            <a:ext cx="349110" cy="34911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352274" y="3452335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C98A18"/>
                </a:solidFill>
                <a:latin typeface="Calibri"/>
              </a:rPr>
              <a:t>Pi</a:t>
            </a:r>
          </a:p>
        </p:txBody>
      </p:sp>
      <p:pic>
        <p:nvPicPr>
          <p:cNvPr id="31" name="Picture 30" descr="pi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80874" y="4734195"/>
            <a:ext cx="254559" cy="254559"/>
          </a:xfrm>
          <a:prstGeom prst="rect">
            <a:avLst/>
          </a:prstGeom>
        </p:spPr>
      </p:pic>
      <p:pic>
        <p:nvPicPr>
          <p:cNvPr id="32" name="Picture 31" descr="pi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71072" y="4734195"/>
            <a:ext cx="254559" cy="25455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284962" y="3452335"/>
            <a:ext cx="16787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4A8C2A"/>
                </a:solidFill>
                <a:latin typeface="Calibri"/>
              </a:rPr>
              <a:t>Ca²⁺</a:t>
            </a:r>
          </a:p>
        </p:txBody>
      </p:sp>
      <p:pic>
        <p:nvPicPr>
          <p:cNvPr id="34" name="Picture 33" descr="c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13562" y="4723285"/>
            <a:ext cx="276379" cy="276379"/>
          </a:xfrm>
          <a:prstGeom prst="rect">
            <a:avLst/>
          </a:prstGeom>
        </p:spPr>
      </p:pic>
      <p:pic>
        <p:nvPicPr>
          <p:cNvPr id="35" name="Picture 34" descr="c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28635" y="4723285"/>
            <a:ext cx="276379" cy="276379"/>
          </a:xfrm>
          <a:prstGeom prst="rect">
            <a:avLst/>
          </a:prstGeom>
        </p:spPr>
      </p:pic>
      <p:pic>
        <p:nvPicPr>
          <p:cNvPr id="36" name="Picture 35" descr="c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43707" y="4723285"/>
            <a:ext cx="276379" cy="276379"/>
          </a:xfrm>
          <a:prstGeom prst="rect">
            <a:avLst/>
          </a:prstGeom>
        </p:spPr>
      </p:pic>
      <p:pic>
        <p:nvPicPr>
          <p:cNvPr id="37" name="Picture 36" descr="c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58779" y="4723285"/>
            <a:ext cx="276379" cy="2763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232A36"/>
                </a:solidFill>
                <a:latin typeface="Calibri"/>
              </a:rPr>
              <a:t>PARTS  ·  arrows and labels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932688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06070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B7482"/>
                </a:solidFill>
                <a:latin typeface="Calibri"/>
              </a:rPr>
              <a:t>Rotate an arrow by its top handle. Edit any pill by double-clicking the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4465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C6CDD5"/>
                </a:solidFill>
                <a:latin typeface="Calibri"/>
              </a:rPr>
              <a:t>Colours follow the closing card: actin red · tropomyosin white · troponin green · myosin purple · ATP/ADP gold · Pi orange · Ca²⁺ green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57276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6B7482"/>
                </a:solidFill>
                <a:latin typeface="Calibri"/>
              </a:rPr>
              <a:t>ARROWS  —  a direction is a claim; make it deliberately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841248" y="1938528"/>
            <a:ext cx="1371600" cy="310896"/>
          </a:xfrm>
          <a:prstGeom prst="rightArrow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ight Arrow 7"/>
          <p:cNvSpPr/>
          <p:nvPr/>
        </p:nvSpPr>
        <p:spPr>
          <a:xfrm>
            <a:off x="841248" y="2395728"/>
            <a:ext cx="2286000" cy="310896"/>
          </a:xfrm>
          <a:prstGeom prst="rightArrow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841248" y="2852928"/>
            <a:ext cx="822960" cy="256032"/>
          </a:xfrm>
          <a:prstGeom prst="rightArrow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ent Arrow 9"/>
          <p:cNvSpPr/>
          <p:nvPr/>
        </p:nvSpPr>
        <p:spPr>
          <a:xfrm>
            <a:off x="3520440" y="1874519"/>
            <a:ext cx="1005840" cy="1005840"/>
          </a:xfrm>
          <a:prstGeom prst="bentArrow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ent Arrow 10"/>
          <p:cNvSpPr/>
          <p:nvPr/>
        </p:nvSpPr>
        <p:spPr>
          <a:xfrm rot="16200000">
            <a:off x="4709160" y="1874519"/>
            <a:ext cx="1005840" cy="1005840"/>
          </a:xfrm>
          <a:prstGeom prst="bentArrow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Lightning Bolt 11"/>
          <p:cNvSpPr/>
          <p:nvPr/>
        </p:nvSpPr>
        <p:spPr>
          <a:xfrm>
            <a:off x="868680" y="3310128"/>
            <a:ext cx="384048" cy="868680"/>
          </a:xfrm>
          <a:prstGeom prst="lightningBol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35661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482"/>
                </a:solidFill>
                <a:latin typeface="Calibri"/>
              </a:rPr>
              <a:t>signal arrives</a:t>
            </a:r>
          </a:p>
        </p:txBody>
      </p:sp>
      <p:sp>
        <p:nvSpPr>
          <p:cNvPr id="14" name="&quot;No&quot; Symbol 13"/>
          <p:cNvSpPr/>
          <p:nvPr/>
        </p:nvSpPr>
        <p:spPr>
          <a:xfrm>
            <a:off x="2331720" y="3310128"/>
            <a:ext cx="777240" cy="777240"/>
          </a:xfrm>
          <a:prstGeom prst="noSmoking">
            <a:avLst/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46120" y="356616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482"/>
                </a:solidFill>
                <a:latin typeface="Calibri"/>
              </a:rPr>
              <a:t>blocked here</a:t>
            </a:r>
          </a:p>
        </p:txBody>
      </p:sp>
      <p:sp>
        <p:nvSpPr>
          <p:cNvPr id="16" name="Up Arrow 15"/>
          <p:cNvSpPr/>
          <p:nvPr/>
        </p:nvSpPr>
        <p:spPr>
          <a:xfrm>
            <a:off x="4160520" y="3310128"/>
            <a:ext cx="310896" cy="822960"/>
          </a:xfrm>
          <a:prstGeom prst="upArrow">
            <a:avLst/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own Arrow 16"/>
          <p:cNvSpPr/>
          <p:nvPr/>
        </p:nvSpPr>
        <p:spPr>
          <a:xfrm>
            <a:off x="4572000" y="3310128"/>
            <a:ext cx="310896" cy="822960"/>
          </a:xfrm>
          <a:prstGeom prst="downArrow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69080" y="4206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482"/>
                </a:solidFill>
                <a:latin typeface="Calibri"/>
              </a:rPr>
              <a:t>more / less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7091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6B7482"/>
                </a:solidFill>
                <a:latin typeface="Calibri"/>
              </a:rPr>
              <a:t>BLANK PILL  —  copy it and type whatever you need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5047488"/>
            <a:ext cx="146304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6B7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15727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B5503C"/>
                </a:solidFill>
                <a:latin typeface="Calibri"/>
              </a:rPr>
              <a:t>STRUCTURES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1920240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55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Actin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2322576"/>
            <a:ext cx="1568196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6B7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Tropomyosin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6440" y="2724912"/>
            <a:ext cx="1252728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4A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Troponin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06440" y="3127248"/>
            <a:ext cx="1568196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8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Myosin head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3529584"/>
            <a:ext cx="1357884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8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Lever arm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06440" y="3931920"/>
            <a:ext cx="1883664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8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Thick filament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06440" y="4334256"/>
            <a:ext cx="1042416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8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Z disc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06440" y="4736592"/>
            <a:ext cx="1042416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4A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M line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06440" y="5138928"/>
            <a:ext cx="1357884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23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Sarcomere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15727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D9A227"/>
                </a:solidFill>
                <a:latin typeface="Calibri"/>
              </a:rPr>
              <a:t>MOLECULES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19288" y="1920240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D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ATP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19288" y="2322576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D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ADP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19288" y="2724912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C98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Pi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19288" y="3127248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4A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Ca²⁺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19288" y="3529584"/>
            <a:ext cx="146304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4A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Troponin 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32136" y="1572768"/>
            <a:ext cx="183794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E98A3C"/>
                </a:solidFill>
                <a:latin typeface="Calibri"/>
              </a:rPr>
              <a:t>THE SIX STATES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32136" y="1920240"/>
            <a:ext cx="1609343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E9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① Cocked / primed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232136" y="2322576"/>
            <a:ext cx="146304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E9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② Attached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32136" y="2724912"/>
            <a:ext cx="1609343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③ Power stroke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232136" y="3127248"/>
            <a:ext cx="1609343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④ Rigor (locked)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32136" y="3529584"/>
            <a:ext cx="1609343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E9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⑤ Detachment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32136" y="3931920"/>
            <a:ext cx="1609343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E9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⑥ Re-cocking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232136" y="4334256"/>
            <a:ext cx="1609343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4A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Binding site exposed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32136" y="4736592"/>
            <a:ext cx="1609343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8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Filaments slide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232136" y="5138928"/>
            <a:ext cx="1609343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23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Sarcomere shortens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8778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2A36"/>
                </a:solidFill>
                <a:latin typeface="Calibri"/>
              </a:rPr>
              <a:t>Canvas 1  ·  One head, one full 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68680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417320" cy="384048"/>
          </a:xfrm>
          <a:prstGeom prst="roundRect">
            <a:avLst>
              <a:gd name="adj" fmla="val 35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87552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232A36"/>
                </a:solidFill>
                <a:latin typeface="Calibri"/>
              </a:rPr>
              <a:t>Lay the six states out as a ring. Put the right nucleotide in the pocket at every step.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898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B03A5B"/>
                </a:solidFill>
                <a:latin typeface="Calibri"/>
              </a:rPr>
              <a:t>MUST SHOW:   what is bound at each step  ·  which step is the power stroke  ·  which step ATP is spent on and which it releases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190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C6CDD5"/>
                </a:solidFill>
                <a:latin typeface="Calibri"/>
              </a:rPr>
              <a:t>The pocket on each head is empty on purpose. What you drop into it is the answer.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064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M LINE  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8064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→  Z DISC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8778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2A36"/>
                </a:solidFill>
                <a:latin typeface="Calibri"/>
              </a:rPr>
              <a:t>Canvas 2  ·  What calcium actually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68680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417320" cy="384048"/>
          </a:xfrm>
          <a:prstGeom prst="roundRect">
            <a:avLst>
              <a:gd name="adj" fmla="val 35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87552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232A36"/>
                </a:solidFill>
                <a:latin typeface="Calibri"/>
              </a:rPr>
              <a:t>Build the thin filament twice — relaxed and activated — and show exactly what Ca²⁺ changes.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898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B03A5B"/>
                </a:solidFill>
                <a:latin typeface="Calibri"/>
              </a:rPr>
              <a:t>MUST SHOW:   what Ca²⁺ binds  ·  what physically moves  ·  why a myosin head with ATP still does nothing without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190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C6CDD5"/>
                </a:solidFill>
                <a:latin typeface="Calibri"/>
              </a:rPr>
              <a:t>Calcium does not touch the myosin head in this muscle. If your arrow goes there, follow it back one protein.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064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M LINE  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8064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→  Z DISC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8778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2A36"/>
                </a:solidFill>
                <a:latin typeface="Calibri"/>
              </a:rPr>
              <a:t>Canvas 3  ·  Stretch — where the cycle stops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68680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417320" cy="384048"/>
          </a:xfrm>
          <a:prstGeom prst="roundRect">
            <a:avLst>
              <a:gd name="adj" fmla="val 35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if you finish early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87552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232A36"/>
                </a:solidFill>
                <a:latin typeface="Calibri"/>
              </a:rPr>
              <a:t>Take the ATP away. Mark the state the cycle halts in, and say what the body feels like.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898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B03A5B"/>
                </a:solidFill>
                <a:latin typeface="Calibri"/>
              </a:rPr>
              <a:t>MUST SHOW:   the halted state, named  ·  why that state and not another  ·  what finally releases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190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C6CDD5"/>
                </a:solidFill>
                <a:latin typeface="Calibri"/>
              </a:rPr>
              <a:t>Rigor is not the muscle contracting. It is the muscle unable to let go. Your drawing should show the difference.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064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M LINE  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8064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→  Z DISC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877</Words>
  <Application>Microsoft Office PowerPoint</Application>
  <PresentationFormat>Widescreen</PresentationFormat>
  <Paragraphs>105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Lina Shehadeh</cp:lastModifiedBy>
  <cp:revision>2</cp:revision>
  <dcterms:created xsi:type="dcterms:W3CDTF">2013-01-27T09:14:16Z</dcterms:created>
  <dcterms:modified xsi:type="dcterms:W3CDTF">2026-09-03T15:04:02Z</dcterms:modified>
  <cp:category/>
</cp:coreProperties>
</file>