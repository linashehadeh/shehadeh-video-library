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533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232A36"/>
                </a:solidFill>
                <a:latin typeface="Calibri"/>
              </a:rPr>
              <a:t>Build it: all three muscle types, side by side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932688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06070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B7482"/>
                </a:solidFill>
                <a:latin typeface="Calibri"/>
              </a:rPr>
              <a:t>The capstone · work in pairs · one canvas, three columns, no table to copy from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00200"/>
            <a:ext cx="5486400" cy="416052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84708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98A3C"/>
                </a:solidFill>
                <a:latin typeface="Calibri"/>
              </a:rPr>
              <a:t>HOW THIS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493776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1.   Open the PARTS slides (3, 4 and 5).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2.   Click an object, Ctrl+C. Go to your CANVAS slide, Ctrl+V.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3.   The parts are NOT sorted by muscle type. Working out which column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      each one belongs in is the first half of the exercise.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4.   Ctrl+D duplicates whatever is selected.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5.   Don't resize anything. The three families have already been rescaled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      to a common yardstick so they can be compared honestly.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6.   Build all three columns before you start filling in the table.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600200"/>
            <a:ext cx="4617720" cy="4160520"/>
          </a:xfrm>
          <a:prstGeom prst="roundRect">
            <a:avLst>
              <a:gd name="adj" fmla="val 3000"/>
            </a:avLst>
          </a:prstGeom>
          <a:solidFill>
            <a:srgbClr val="FDF6EE"/>
          </a:solidFill>
          <a:ln w="12700">
            <a:solidFill>
              <a:srgbClr val="F0D9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22592" y="1847088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98A3C"/>
                </a:solidFill>
                <a:latin typeface="Calibri"/>
              </a:rPr>
              <a:t>WHY WE'RE DOING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22592" y="2240280"/>
            <a:ext cx="411480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0">
                <a:solidFill>
                  <a:srgbClr val="232A36"/>
                </a:solidFill>
                <a:latin typeface="Calibri"/>
              </a:rPr>
              <a:t>You have the comparison table in your slides. Reading a filled-in table is not the same skill as producing one.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232A36"/>
                </a:solidFill>
                <a:latin typeface="Calibri"/>
              </a:rPr>
              <a:t>Sorting loose parts into three columns forces you to know which protein belongs to which cell, and building each column forces you to know what it does there. A table lets you recognise both without ever committing.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232A36"/>
                </a:solidFill>
                <a:latin typeface="Calibri"/>
              </a:rPr>
              <a:t>The last row of the table is the one that separates the three cells in a single sentence. Find it yourself before you look it 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64465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C6CDD5"/>
                </a:solidFill>
                <a:latin typeface="Calibri"/>
              </a:rPr>
              <a:t>Objects taken from Videos 3, 5 and 6 · rescaled to a common yardstick · videos.shehadehlab.com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232A36"/>
                </a:solidFill>
                <a:latin typeface="Calibri"/>
              </a:rPr>
              <a:t>The finished thing should teach itself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932688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06070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B7482"/>
                </a:solidFill>
                <a:latin typeface="Calibri"/>
              </a:rPr>
              <a:t>Before you start: what a complete Canvas 1 build has to make obvious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783080"/>
            <a:ext cx="384048" cy="384048"/>
          </a:xfrm>
          <a:prstGeom prst="ellipse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1792224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32A36"/>
                </a:solidFill>
                <a:latin typeface="Calibri"/>
              </a:rPr>
              <a:t>Every part in the column it belongs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11226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B7482"/>
                </a:solidFill>
                <a:latin typeface="Calibri"/>
              </a:rPr>
              <a:t>some parts appear in more than one column — say so rather than choosing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569464"/>
            <a:ext cx="384048" cy="384048"/>
          </a:xfrm>
          <a:prstGeom prst="ellipse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578608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32A36"/>
                </a:solidFill>
                <a:latin typeface="Calibri"/>
              </a:rPr>
              <a:t>What triggers release in each cell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8986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B7482"/>
                </a:solidFill>
                <a:latin typeface="Calibri"/>
              </a:rPr>
              <a:t>one is mechanical, one is chemical, one is a second messenger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355848"/>
            <a:ext cx="384048" cy="384048"/>
          </a:xfrm>
          <a:prstGeom prst="ellipse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3364991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32A36"/>
                </a:solidFill>
                <a:latin typeface="Calibri"/>
              </a:rPr>
              <a:t>Where the Ca²⁺ comes from in each cell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68503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B7482"/>
                </a:solidFill>
                <a:latin typeface="Calibri"/>
              </a:rPr>
              <a:t>and which of the three cannot manage without the extracellular pool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42232"/>
            <a:ext cx="384048" cy="384048"/>
          </a:xfrm>
          <a:prstGeom prst="ellipse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4151376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32A36"/>
                </a:solidFill>
                <a:latin typeface="Calibri"/>
              </a:rPr>
              <a:t>What the Ca²⁺ binds in each cell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4471416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B7482"/>
                </a:solidFill>
                <a:latin typeface="Calibri"/>
              </a:rPr>
              <a:t>two share a target; one does not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928616"/>
            <a:ext cx="384048" cy="384048"/>
          </a:xfrm>
          <a:prstGeom prst="ellipse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493776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32A36"/>
                </a:solidFill>
                <a:latin typeface="Calibri"/>
              </a:rPr>
              <a:t>Which filament carries the regulatory switch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5257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B7482"/>
                </a:solidFill>
                <a:latin typeface="Calibri"/>
              </a:rPr>
              <a:t>this is the single row that separates smooth muscle from the other two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40080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B03A5B"/>
                </a:solidFill>
                <a:latin typeface="Calibri"/>
              </a:rPr>
              <a:t>If a classmate can read all three mechanisms off your columns without you talking, it is finished.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232A36"/>
                </a:solidFill>
                <a:latin typeface="Calibri"/>
              </a:rPr>
              <a:t>PARTS  ·  the stores, the membranes and the machinery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932688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06070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B7482"/>
                </a:solidFill>
                <a:latin typeface="Calibri"/>
              </a:rPr>
              <a:t>Not sorted by muscle type. Working that out is the first half of the exercise.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4465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C6CDD5"/>
                </a:solidFill>
                <a:latin typeface="Calibri"/>
              </a:rPr>
              <a:t>Objects taken from Videos 3, 5 and 6 · rescaled to a common yardstick · videos.shehadehlab.com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335024"/>
            <a:ext cx="10908792" cy="475488"/>
          </a:xfrm>
          <a:prstGeom prst="roundRect">
            <a:avLst>
              <a:gd name="adj" fmla="val 3000"/>
            </a:avLst>
          </a:prstGeom>
          <a:solidFill>
            <a:srgbClr val="FDF6EE"/>
          </a:solidFill>
          <a:ln w="12700">
            <a:solidFill>
              <a:srgbClr val="F0D9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2415" y="14630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232A36"/>
                </a:solidFill>
                <a:latin typeface="Calibri"/>
              </a:rPr>
              <a:t>Three membranes, three stores, one contractile unit. Two of the three cells draw their filaments a different way — decide whether that difference is real or just a drawing style.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654" y="2334577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0774A"/>
                </a:solidFill>
                <a:latin typeface="Calibri"/>
              </a:rPr>
              <a:t>membrane A</a:t>
            </a:r>
          </a:p>
        </p:txBody>
      </p:sp>
      <p:pic>
        <p:nvPicPr>
          <p:cNvPr id="9" name="Picture 8" descr="s_membr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254" y="2645473"/>
            <a:ext cx="368617" cy="32861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5942" y="2334577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0774A"/>
                </a:solidFill>
                <a:latin typeface="Calibri"/>
              </a:rPr>
              <a:t>membrane B</a:t>
            </a:r>
          </a:p>
        </p:txBody>
      </p:sp>
      <p:pic>
        <p:nvPicPr>
          <p:cNvPr id="11" name="Picture 10" descr="c_membr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542" y="2645473"/>
            <a:ext cx="482917" cy="328612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987230" y="2334577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0774A"/>
                </a:solidFill>
                <a:latin typeface="Calibri"/>
              </a:rPr>
              <a:t>membrane C</a:t>
            </a:r>
          </a:p>
        </p:txBody>
      </p:sp>
      <p:pic>
        <p:nvPicPr>
          <p:cNvPr id="13" name="Picture 12" descr="m_membra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5830" y="2645473"/>
            <a:ext cx="462915" cy="32861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48518" y="2334577"/>
            <a:ext cx="123729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D89A87"/>
                </a:solidFill>
                <a:latin typeface="Calibri"/>
              </a:rPr>
              <a:t>store A</a:t>
            </a:r>
          </a:p>
        </p:txBody>
      </p:sp>
      <p:pic>
        <p:nvPicPr>
          <p:cNvPr id="15" name="Picture 14" descr="s_s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7118" y="3508438"/>
            <a:ext cx="780097" cy="156019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31536" y="2334577"/>
            <a:ext cx="189166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D89A87"/>
                </a:solidFill>
                <a:latin typeface="Calibri"/>
              </a:rPr>
              <a:t>store B</a:t>
            </a:r>
          </a:p>
        </p:txBody>
      </p:sp>
      <p:pic>
        <p:nvPicPr>
          <p:cNvPr id="17" name="Picture 16" descr="c_s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0136" y="3029807"/>
            <a:ext cx="1434465" cy="25174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68921" y="2334577"/>
            <a:ext cx="225456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D89A87"/>
                </a:solidFill>
                <a:latin typeface="Calibri"/>
              </a:rPr>
              <a:t>store C</a:t>
            </a:r>
          </a:p>
        </p:txBody>
      </p:sp>
      <p:pic>
        <p:nvPicPr>
          <p:cNvPr id="19" name="Picture 18" descr="m_s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7521" y="3681317"/>
            <a:ext cx="1797367" cy="121443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669208" y="2334577"/>
            <a:ext cx="225742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8B5FC0"/>
                </a:solidFill>
                <a:latin typeface="Calibri"/>
              </a:rPr>
              <a:t>contractile unit</a:t>
            </a:r>
          </a:p>
        </p:txBody>
      </p:sp>
      <p:pic>
        <p:nvPicPr>
          <p:cNvPr id="21" name="Picture 20" descr="m_filament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97808" y="3802760"/>
            <a:ext cx="1800225" cy="971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232A36"/>
                </a:solidFill>
                <a:latin typeface="Calibri"/>
              </a:rPr>
              <a:t>PARTS  ·  the channels, pumps and switches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932688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06070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B7482"/>
                </a:solidFill>
                <a:latin typeface="Calibri"/>
              </a:rPr>
              <a:t>Same rule: nothing here is labelled by muscle 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4465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C6CDD5"/>
                </a:solidFill>
                <a:latin typeface="Calibri"/>
              </a:rPr>
              <a:t>Objects taken from Videos 3, 5 and 6 · rescaled to a common yardstick · videos.shehadehlab.com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335024"/>
            <a:ext cx="10908792" cy="475488"/>
          </a:xfrm>
          <a:prstGeom prst="roundRect">
            <a:avLst>
              <a:gd name="adj" fmla="val 3000"/>
            </a:avLst>
          </a:prstGeom>
          <a:solidFill>
            <a:srgbClr val="FDF6EE"/>
          </a:solidFill>
          <a:ln w="12700">
            <a:solidFill>
              <a:srgbClr val="F0D9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2415" y="14630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232A36"/>
                </a:solidFill>
                <a:latin typeface="Calibri"/>
              </a:rPr>
              <a:t>The three channels at the left are the same protein family drawn by three different films. They are the same size here on purpose — decide for yourself whether they do the same job.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851" y="2434304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E01A75"/>
                </a:solidFill>
                <a:latin typeface="Calibri"/>
              </a:rPr>
              <a:t>channel 1</a:t>
            </a:r>
          </a:p>
        </p:txBody>
      </p:sp>
      <p:pic>
        <p:nvPicPr>
          <p:cNvPr id="9" name="Picture 8" descr="s_dh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451" y="3405282"/>
            <a:ext cx="382905" cy="628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42267" y="2434304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E01A75"/>
                </a:solidFill>
                <a:latin typeface="Calibri"/>
              </a:rPr>
              <a:t>channel 2</a:t>
            </a:r>
          </a:p>
        </p:txBody>
      </p:sp>
      <p:pic>
        <p:nvPicPr>
          <p:cNvPr id="11" name="Picture 10" descr="c_cav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0867" y="3405282"/>
            <a:ext cx="960120" cy="628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86435" y="243430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E01A75"/>
                </a:solidFill>
                <a:latin typeface="Calibri"/>
              </a:rPr>
              <a:t>channel 3</a:t>
            </a:r>
          </a:p>
        </p:txBody>
      </p:sp>
      <p:pic>
        <p:nvPicPr>
          <p:cNvPr id="13" name="Picture 12" descr="m_ca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5035" y="3405282"/>
            <a:ext cx="1005840" cy="628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76323" y="2434304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7B3FA0"/>
                </a:solidFill>
                <a:latin typeface="Calibri"/>
              </a:rPr>
              <a:t>release 1</a:t>
            </a:r>
          </a:p>
        </p:txBody>
      </p:sp>
      <p:pic>
        <p:nvPicPr>
          <p:cNvPr id="15" name="Picture 14" descr="s_ryr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4923" y="3501009"/>
            <a:ext cx="325755" cy="43719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18739" y="2434304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7B3FA0"/>
                </a:solidFill>
                <a:latin typeface="Calibri"/>
              </a:rPr>
              <a:t>release 2</a:t>
            </a:r>
          </a:p>
        </p:txBody>
      </p:sp>
      <p:pic>
        <p:nvPicPr>
          <p:cNvPr id="17" name="Picture 16" descr="c_ryr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7339" y="3426713"/>
            <a:ext cx="562927" cy="58578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961155" y="2434304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2E77C9"/>
                </a:solidFill>
                <a:latin typeface="Calibri"/>
              </a:rPr>
              <a:t>release 3</a:t>
            </a:r>
          </a:p>
        </p:txBody>
      </p:sp>
      <p:pic>
        <p:nvPicPr>
          <p:cNvPr id="19" name="Picture 18" descr="m_ip3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9755" y="3360991"/>
            <a:ext cx="488632" cy="7172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003571" y="2434304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8A7A6E"/>
                </a:solidFill>
                <a:latin typeface="Calibri"/>
              </a:rPr>
              <a:t>pump A</a:t>
            </a:r>
          </a:p>
        </p:txBody>
      </p:sp>
      <p:pic>
        <p:nvPicPr>
          <p:cNvPr id="21" name="Picture 20" descr="s_serc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32171" y="3431000"/>
            <a:ext cx="357187" cy="57721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045987" y="2434304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8A7A6E"/>
                </a:solidFill>
                <a:latin typeface="Calibri"/>
              </a:rPr>
              <a:t>pump B</a:t>
            </a:r>
          </a:p>
        </p:txBody>
      </p:sp>
      <p:pic>
        <p:nvPicPr>
          <p:cNvPr id="23" name="Picture 22" descr="c_serc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74587" y="3463861"/>
            <a:ext cx="457200" cy="51149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088403" y="2434304"/>
            <a:ext cx="14030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2B600"/>
                </a:solidFill>
                <a:latin typeface="Calibri"/>
              </a:rPr>
              <a:t>exchanger</a:t>
            </a:r>
          </a:p>
        </p:txBody>
      </p:sp>
      <p:pic>
        <p:nvPicPr>
          <p:cNvPr id="25" name="Picture 24" descr="c_ncx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17003" y="2745200"/>
            <a:ext cx="945832" cy="194881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814666" y="5078063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17BFB4"/>
                </a:solidFill>
                <a:latin typeface="Calibri"/>
              </a:rPr>
              <a:t>brake</a:t>
            </a:r>
          </a:p>
        </p:txBody>
      </p:sp>
      <p:pic>
        <p:nvPicPr>
          <p:cNvPr id="27" name="Picture 26" descr="c_pl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3266" y="5446109"/>
            <a:ext cx="240030" cy="32861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857082" y="5078063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7E8794"/>
                </a:solidFill>
                <a:latin typeface="Calibri"/>
              </a:rPr>
              <a:t>sensor</a:t>
            </a:r>
          </a:p>
        </p:txBody>
      </p:sp>
      <p:pic>
        <p:nvPicPr>
          <p:cNvPr id="29" name="Picture 28" descr="m_cam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85682" y="5403246"/>
            <a:ext cx="248602" cy="41433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899498" y="5078063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D9A227"/>
                </a:solidFill>
                <a:latin typeface="Calibri"/>
              </a:rPr>
              <a:t>kinase</a:t>
            </a:r>
          </a:p>
        </p:txBody>
      </p:sp>
      <p:pic>
        <p:nvPicPr>
          <p:cNvPr id="31" name="Picture 30" descr="m_ml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28098" y="5411819"/>
            <a:ext cx="254317" cy="39719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941914" y="5078063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12A88F"/>
                </a:solidFill>
                <a:latin typeface="Calibri"/>
              </a:rPr>
              <a:t>phosphatase</a:t>
            </a:r>
          </a:p>
        </p:txBody>
      </p:sp>
      <p:pic>
        <p:nvPicPr>
          <p:cNvPr id="33" name="Picture 32" descr="m_mlcp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70514" y="5388959"/>
            <a:ext cx="397192" cy="44291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984330" y="5078063"/>
            <a:ext cx="279229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4A8C2A"/>
                </a:solidFill>
                <a:latin typeface="Calibri"/>
              </a:rPr>
              <a:t>Ca²⁺  —  the same ion everywhere</a:t>
            </a:r>
          </a:p>
        </p:txBody>
      </p:sp>
      <p:pic>
        <p:nvPicPr>
          <p:cNvPr id="35" name="Picture 34" descr="c_ca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12930" y="5478970"/>
            <a:ext cx="260032" cy="262889"/>
          </a:xfrm>
          <a:prstGeom prst="rect">
            <a:avLst/>
          </a:prstGeom>
        </p:spPr>
      </p:pic>
      <p:pic>
        <p:nvPicPr>
          <p:cNvPr id="36" name="Picture 35" descr="c_ca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09367" y="5478970"/>
            <a:ext cx="260032" cy="262889"/>
          </a:xfrm>
          <a:prstGeom prst="rect">
            <a:avLst/>
          </a:prstGeom>
        </p:spPr>
      </p:pic>
      <p:pic>
        <p:nvPicPr>
          <p:cNvPr id="37" name="Picture 36" descr="c_ca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05804" y="5478970"/>
            <a:ext cx="260032" cy="262889"/>
          </a:xfrm>
          <a:prstGeom prst="rect">
            <a:avLst/>
          </a:prstGeom>
        </p:spPr>
      </p:pic>
      <p:pic>
        <p:nvPicPr>
          <p:cNvPr id="38" name="Picture 37" descr="c_ca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02241" y="5478970"/>
            <a:ext cx="260032" cy="262889"/>
          </a:xfrm>
          <a:prstGeom prst="rect">
            <a:avLst/>
          </a:prstGeom>
        </p:spPr>
      </p:pic>
      <p:pic>
        <p:nvPicPr>
          <p:cNvPr id="39" name="Picture 38" descr="c_ca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98678" y="5478970"/>
            <a:ext cx="260032" cy="262889"/>
          </a:xfrm>
          <a:prstGeom prst="rect">
            <a:avLst/>
          </a:prstGeom>
        </p:spPr>
      </p:pic>
      <p:pic>
        <p:nvPicPr>
          <p:cNvPr id="40" name="Picture 39" descr="c_ca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95115" y="5478970"/>
            <a:ext cx="260032" cy="262889"/>
          </a:xfrm>
          <a:prstGeom prst="rect">
            <a:avLst/>
          </a:prstGeom>
        </p:spPr>
      </p:pic>
      <p:pic>
        <p:nvPicPr>
          <p:cNvPr id="41" name="Picture 40" descr="c_ca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91552" y="5478970"/>
            <a:ext cx="260032" cy="262889"/>
          </a:xfrm>
          <a:prstGeom prst="rect">
            <a:avLst/>
          </a:prstGeom>
        </p:spPr>
      </p:pic>
      <p:pic>
        <p:nvPicPr>
          <p:cNvPr id="42" name="Picture 41" descr="c_ca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87989" y="5478970"/>
            <a:ext cx="260032" cy="2628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232A36"/>
                </a:solidFill>
                <a:latin typeface="Calibri"/>
              </a:rPr>
              <a:t>PARTS  ·  answers to drop into the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932688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06070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B7482"/>
                </a:solidFill>
                <a:latin typeface="Calibri"/>
              </a:rPr>
              <a:t>Use these on Canvas 2. If the pill you want is missing, copy a blank one and type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4465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C6CDD5"/>
                </a:solidFill>
                <a:latin typeface="Calibri"/>
              </a:rPr>
              <a:t>Skeletal · Cardiac · Smooth are the deck's own key colours: rust, wine, blue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5727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E98A3C"/>
                </a:solidFill>
                <a:latin typeface="Calibri"/>
              </a:rPr>
              <a:t>THE TRIGGER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920240"/>
            <a:ext cx="2093976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E9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Action potential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322576"/>
            <a:ext cx="2409444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45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Mechanical coupling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724912"/>
            <a:ext cx="304038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Ca²⁺-induced Ca²⁺ release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127248"/>
            <a:ext cx="19888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IP₃ from a GPCR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3529584"/>
            <a:ext cx="1883664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E9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Depolarisation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931920"/>
            <a:ext cx="1147572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Stretch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5727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4A8C2A"/>
                </a:solidFill>
                <a:latin typeface="Calibri"/>
              </a:rPr>
              <a:t>THE Ca²⁺ SOURCE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44568" y="1920240"/>
            <a:ext cx="1147572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45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SR 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44568" y="2322576"/>
            <a:ext cx="2304288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SR + extracellular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44568" y="2724912"/>
            <a:ext cx="2304288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Extracellular + SR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44568" y="3127248"/>
            <a:ext cx="2304288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Needs outside Ca²⁺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44568" y="3529584"/>
            <a:ext cx="3145536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Does not need outside Ca²⁺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44568" y="3931920"/>
            <a:ext cx="1883664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E01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L-type channel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44568" y="4334256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7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RyR1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44568" y="4736592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7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RyR2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44568" y="5138928"/>
            <a:ext cx="1673352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2E7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IP₃ receptor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15727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2F6FA8"/>
                </a:solidFill>
                <a:latin typeface="Calibri"/>
              </a:rPr>
              <a:t>SENSOR, SWITCH, RESET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47888" y="1920240"/>
            <a:ext cx="146304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4A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Troponin 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47888" y="2322576"/>
            <a:ext cx="146304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7E8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Calmodulin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47888" y="2724912"/>
            <a:ext cx="1778508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55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Thin filament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7888" y="3127248"/>
            <a:ext cx="1883664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8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Thick filament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47888" y="3529584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8A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SERCA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47888" y="3931920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F2B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NCX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47888" y="4334256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12A8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MLCP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47888" y="4736592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D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MLCK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47888" y="5138928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Latch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47888" y="5541264"/>
            <a:ext cx="1568196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No troponin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8778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2A36"/>
                </a:solidFill>
                <a:latin typeface="Calibri"/>
              </a:rPr>
              <a:t>Canvas 1  ·  Sort the parts, then build all three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68680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417320" cy="384048"/>
          </a:xfrm>
          <a:prstGeom prst="roundRect">
            <a:avLst>
              <a:gd name="adj" fmla="val 35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87552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232A36"/>
                </a:solidFill>
                <a:latin typeface="Calibri"/>
              </a:rPr>
              <a:t>Three columns. Put every part where it belongs, then build each mechanism in its own column.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898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B03A5B"/>
                </a:solidFill>
                <a:latin typeface="Calibri"/>
              </a:rPr>
              <a:t>MUST SHOW:   every part in the right column  ·  the trigger for each  ·  the Ca²⁺ source for 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190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C6CDD5"/>
                </a:solidFill>
                <a:latin typeface="Calibri"/>
              </a:rPr>
              <a:t>Some parts belong in more than one column. Duplicate them and say so — that is a finding, not a problem.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1051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SKELETAL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81051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CARDIAC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181051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SMOOTH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8778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2A36"/>
                </a:solidFill>
                <a:latin typeface="Calibri"/>
              </a:rPr>
              <a:t>Canvas 2  ·  Fill the table from your own drawing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68680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417320" cy="384048"/>
          </a:xfrm>
          <a:prstGeom prst="roundRect">
            <a:avLst>
              <a:gd name="adj" fmla="val 35000"/>
            </a:avLst>
          </a:prstGeom>
          <a:solidFill>
            <a:srgbClr val="C9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87552"/>
            <a:ext cx="95097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232A36"/>
                </a:solidFill>
                <a:latin typeface="Calibri"/>
              </a:rPr>
              <a:t>Drag the pills from slide 6 into the cells. Answer from your columns, not from memory.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85031" y="1600200"/>
            <a:ext cx="2560320" cy="475488"/>
          </a:xfrm>
          <a:prstGeom prst="roundRect">
            <a:avLst>
              <a:gd name="adj" fmla="val 20000"/>
            </a:avLst>
          </a:prstGeom>
          <a:solidFill>
            <a:srgbClr val="B4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SKELETAL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79" y="1600200"/>
            <a:ext cx="2560320" cy="475488"/>
          </a:xfrm>
          <a:prstGeom prst="roundRect">
            <a:avLst>
              <a:gd name="adj" fmla="val 20000"/>
            </a:avLst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CARDIAC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25128" y="1600200"/>
            <a:ext cx="2560320" cy="475488"/>
          </a:xfrm>
          <a:prstGeom prst="roundRect">
            <a:avLst>
              <a:gd name="adj" fmla="val 20000"/>
            </a:avLst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SMOOTH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68296"/>
            <a:ext cx="26060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32A36"/>
                </a:solidFill>
                <a:latin typeface="Calibri"/>
              </a:rPr>
              <a:t>What triggers release?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85031" y="2167128"/>
            <a:ext cx="2560320" cy="6949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55079" y="2167128"/>
            <a:ext cx="2560320" cy="6949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025128" y="2167128"/>
            <a:ext cx="2560320" cy="6949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3154680"/>
            <a:ext cx="26060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32A36"/>
                </a:solidFill>
                <a:latin typeface="Calibri"/>
              </a:rPr>
              <a:t>Where does the Ca²⁺ come from?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85031" y="2953512"/>
            <a:ext cx="2560320" cy="6949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55079" y="2953512"/>
            <a:ext cx="2560320" cy="6949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025128" y="2953512"/>
            <a:ext cx="2560320" cy="6949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3941063"/>
            <a:ext cx="26060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32A36"/>
                </a:solidFill>
                <a:latin typeface="Calibri"/>
              </a:rPr>
              <a:t>What does Ca²⁺ bind?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85031" y="3739896"/>
            <a:ext cx="2560320" cy="6949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55079" y="3739896"/>
            <a:ext cx="2560320" cy="6949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025128" y="3739896"/>
            <a:ext cx="2560320" cy="6949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" y="4727448"/>
            <a:ext cx="26060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32A36"/>
                </a:solidFill>
                <a:latin typeface="Calibri"/>
              </a:rPr>
              <a:t>Which filament carries the switch?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85031" y="4526280"/>
            <a:ext cx="2560320" cy="6949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355079" y="4526280"/>
            <a:ext cx="2560320" cy="6949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025128" y="4526280"/>
            <a:ext cx="2560320" cy="6949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" y="5513832"/>
            <a:ext cx="26060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32A36"/>
                </a:solidFill>
                <a:latin typeface="Calibri"/>
              </a:rPr>
              <a:t>How does it relax?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85031" y="5312664"/>
            <a:ext cx="2560320" cy="6949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55079" y="5312664"/>
            <a:ext cx="2560320" cy="6949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025128" y="5312664"/>
            <a:ext cx="2560320" cy="6949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" y="6153912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C6CDD5"/>
                </a:solidFill>
                <a:latin typeface="Calibri"/>
              </a:rPr>
              <a:t>The bottom row is the one that separates smooth muscle from the other two in a single sentence.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8778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2A36"/>
                </a:solidFill>
                <a:latin typeface="Calibri"/>
              </a:rPr>
              <a:t>Canvas 3  ·  Stretch — one drug, three answers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68680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417320" cy="384048"/>
          </a:xfrm>
          <a:prstGeom prst="roundRect">
            <a:avLst>
              <a:gd name="adj" fmla="val 35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if you finish early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87552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232A36"/>
                </a:solidFill>
                <a:latin typeface="Calibri"/>
              </a:rPr>
              <a:t>Put dantrolene, verapamil and amlodipine on your columns. Each acts in one column and matters in another.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898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B03A5B"/>
                </a:solidFill>
                <a:latin typeface="Calibri"/>
              </a:rPr>
              <a:t>MUST SHOW:   where each drug binds  ·  which column feels it  ·  why two of them share a target family and not an indication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190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C6CDD5"/>
                </a:solidFill>
                <a:latin typeface="Calibri"/>
              </a:rPr>
              <a:t>The same channel family appears in all three columns. What changes is what the cell does with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1051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SKELETAL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81051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CARDIAC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181051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SMOOTH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956</Words>
  <Application>Microsoft Office PowerPoint</Application>
  <PresentationFormat>Widescreen</PresentationFormat>
  <Paragraphs>122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Lina Shehadeh</cp:lastModifiedBy>
  <cp:revision>2</cp:revision>
  <dcterms:created xsi:type="dcterms:W3CDTF">2013-01-27T09:14:16Z</dcterms:created>
  <dcterms:modified xsi:type="dcterms:W3CDTF">2026-09-03T15:05:33Z</dcterms:modified>
  <cp:category/>
</cp:coreProperties>
</file>